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91" r:id="rId2"/>
    <p:sldId id="275" r:id="rId3"/>
    <p:sldId id="276" r:id="rId4"/>
    <p:sldId id="277" r:id="rId5"/>
    <p:sldId id="287" r:id="rId6"/>
    <p:sldId id="280" r:id="rId7"/>
    <p:sldId id="282" r:id="rId8"/>
    <p:sldId id="283" r:id="rId9"/>
    <p:sldId id="286" r:id="rId10"/>
    <p:sldId id="284" r:id="rId11"/>
    <p:sldId id="285" r:id="rId12"/>
    <p:sldId id="267" r:id="rId13"/>
    <p:sldId id="290" r:id="rId14"/>
    <p:sldId id="27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166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46396-1DB5-4E30-AA89-EA207F2E9C3A}" type="datetimeFigureOut">
              <a:rPr lang="en-US" smtClean="0"/>
              <a:t>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A90CE-73EE-4CB3-A4D7-35C03A9A4D05}" type="slidenum">
              <a:rPr lang="en-US" smtClean="0"/>
              <a:t>‹#›</a:t>
            </a:fld>
            <a:endParaRPr lang="en-US"/>
          </a:p>
        </p:txBody>
      </p:sp>
    </p:spTree>
    <p:extLst>
      <p:ext uri="{BB962C8B-B14F-4D97-AF65-F5344CB8AC3E}">
        <p14:creationId xmlns:p14="http://schemas.microsoft.com/office/powerpoint/2010/main" val="417955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532E4A-F7AE-4D29-88CE-126133FD1B1F}" type="slidenum">
              <a:rPr lang="en-US" smtClean="0"/>
              <a:t>10</a:t>
            </a:fld>
            <a:endParaRPr lang="en-US"/>
          </a:p>
        </p:txBody>
      </p:sp>
    </p:spTree>
    <p:extLst>
      <p:ext uri="{BB962C8B-B14F-4D97-AF65-F5344CB8AC3E}">
        <p14:creationId xmlns:p14="http://schemas.microsoft.com/office/powerpoint/2010/main" val="434062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87EF7B-34EF-4F4A-9345-0563DB1EDFFC}"/>
              </a:ext>
            </a:extLst>
          </p:cNvPr>
          <p:cNvSpPr>
            <a:spLocks noGrp="1"/>
          </p:cNvSpPr>
          <p:nvPr>
            <p:ph type="ctr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INTELLIGENT INFANT HEALTH PREDICTOR WITH PERSONALIZED AI GUIDANCE</a:t>
            </a:r>
          </a:p>
        </p:txBody>
      </p:sp>
      <p:sp>
        <p:nvSpPr>
          <p:cNvPr id="4" name="Subtitle 3">
            <a:extLst>
              <a:ext uri="{FF2B5EF4-FFF2-40B4-BE49-F238E27FC236}">
                <a16:creationId xmlns:a16="http://schemas.microsoft.com/office/drawing/2014/main" id="{AB314F61-2FCB-4617-A0A7-B834B44D0475}"/>
              </a:ext>
            </a:extLst>
          </p:cNvPr>
          <p:cNvSpPr>
            <a:spLocks noGrp="1"/>
          </p:cNvSpPr>
          <p:nvPr>
            <p:ph type="subTitle" idx="1"/>
          </p:nvPr>
        </p:nvSpPr>
        <p:spPr>
          <a:xfrm>
            <a:off x="1371600" y="3886200"/>
            <a:ext cx="6400800" cy="457200"/>
          </a:xfrm>
        </p:spPr>
        <p:txBody>
          <a:bodyPr>
            <a:normAutofit fontScale="92500"/>
          </a:bodyPr>
          <a:lstStyle/>
          <a:p>
            <a:r>
              <a:rPr lang="en-US" sz="2400" i="1" dirty="0">
                <a:solidFill>
                  <a:schemeClr val="tx1"/>
                </a:solidFill>
              </a:rPr>
              <a:t>“AI-Driven Early Risk Assessment for Infant Health”</a:t>
            </a:r>
          </a:p>
        </p:txBody>
      </p:sp>
    </p:spTree>
    <p:extLst>
      <p:ext uri="{BB962C8B-B14F-4D97-AF65-F5344CB8AC3E}">
        <p14:creationId xmlns:p14="http://schemas.microsoft.com/office/powerpoint/2010/main" val="1922747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A3360A-679A-4D8F-9282-47EAE53307B5}"/>
              </a:ext>
            </a:extLst>
          </p:cNvPr>
          <p:cNvSpPr>
            <a:spLocks noGrp="1"/>
          </p:cNvSpPr>
          <p:nvPr>
            <p:ph type="title"/>
          </p:nvPr>
        </p:nvSpPr>
        <p:spPr/>
        <p:txBody>
          <a:bodyPr/>
          <a:lstStyle/>
          <a:p>
            <a:r>
              <a:rPr lang="en-US" dirty="0">
                <a:latin typeface="Times New Roman" pitchFamily="18" charset="0"/>
                <a:cs typeface="Times New Roman" pitchFamily="18" charset="0"/>
              </a:rPr>
              <a:t>OBJECTIVE</a:t>
            </a:r>
            <a:endParaRPr lang="en-US" dirty="0"/>
          </a:p>
        </p:txBody>
      </p:sp>
      <p:sp>
        <p:nvSpPr>
          <p:cNvPr id="4" name="Content Placeholder 3">
            <a:extLst>
              <a:ext uri="{FF2B5EF4-FFF2-40B4-BE49-F238E27FC236}">
                <a16:creationId xmlns:a16="http://schemas.microsoft.com/office/drawing/2014/main" id="{847D2809-D0E6-45F2-85AC-9AC16C8C0A8E}"/>
              </a:ext>
            </a:extLst>
          </p:cNvPr>
          <p:cNvSpPr>
            <a:spLocks noGrp="1"/>
          </p:cNvSpPr>
          <p:nvPr>
            <p:ph idx="1"/>
          </p:nvPr>
        </p:nvSpPr>
        <p:spPr/>
        <p:txBody>
          <a:bodyPr>
            <a:normAutofit/>
          </a:bodyPr>
          <a:lstStyle/>
          <a:p>
            <a:pPr marL="342900" lvl="0" indent="-342900" algn="just">
              <a:spcBef>
                <a:spcPct val="0"/>
              </a:spcBef>
              <a:buFont typeface="+mj-lt"/>
              <a:buAutoNum type="arabicPeriod"/>
              <a:defRPr/>
            </a:pPr>
            <a:r>
              <a:rPr lang="en-US" sz="1800" b="1" dirty="0"/>
              <a:t>Build a supervised Machine Learning model</a:t>
            </a:r>
            <a:r>
              <a:rPr lang="en-US" sz="1800" dirty="0"/>
              <a:t> (CatBoost) to accurately predict infant mortality risk and classify infants into </a:t>
            </a:r>
            <a:r>
              <a:rPr lang="en-US" sz="1800" i="1" dirty="0"/>
              <a:t>Low-Risk</a:t>
            </a:r>
            <a:r>
              <a:rPr lang="en-US" sz="1800" dirty="0"/>
              <a:t> and </a:t>
            </a:r>
            <a:r>
              <a:rPr lang="en-US" sz="1800" i="1" dirty="0"/>
              <a:t>High-Risk</a:t>
            </a:r>
            <a:r>
              <a:rPr lang="en-US" sz="1800" dirty="0"/>
              <a:t> categories.</a:t>
            </a:r>
          </a:p>
          <a:p>
            <a:pPr marL="342900" lvl="0" indent="-342900" algn="just">
              <a:spcBef>
                <a:spcPct val="0"/>
              </a:spcBef>
              <a:buFont typeface="+mj-lt"/>
              <a:buAutoNum type="arabicPeriod"/>
              <a:defRPr/>
            </a:pPr>
            <a:endParaRPr lang="en-US" sz="1800" dirty="0">
              <a:latin typeface="Times New Roman" pitchFamily="18" charset="0"/>
              <a:cs typeface="Times New Roman" pitchFamily="18" charset="0"/>
            </a:endParaRPr>
          </a:p>
          <a:p>
            <a:pPr marL="342900" lvl="0" indent="-342900" algn="just">
              <a:spcBef>
                <a:spcPct val="0"/>
              </a:spcBef>
              <a:buFont typeface="+mj-lt"/>
              <a:buAutoNum type="arabicPeriod"/>
              <a:defRPr/>
            </a:pPr>
            <a:r>
              <a:rPr lang="en-US" sz="1800" b="1" dirty="0"/>
              <a:t>Integrate a GPT-based AI Engine</a:t>
            </a:r>
            <a:r>
              <a:rPr lang="en-US" sz="1800" dirty="0"/>
              <a:t> (HuggingFace) to generate personalized and actionable survival plans for infants identified as high-risk.</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Develop a user-friendly web interface</a:t>
            </a:r>
            <a:r>
              <a:rPr lang="en-US" sz="1800" dirty="0"/>
              <a:t> that allows healthcare workers and caregivers to enter infant health data and instantly receive predictions and AI-generated guidance.</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Enhance proactive pediatric care</a:t>
            </a:r>
            <a:r>
              <a:rPr lang="en-US" sz="1800" dirty="0"/>
              <a:t> by combining ML-based risk assessment with tailored intervention recommendations.</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Evaluate system performance</a:t>
            </a:r>
            <a:r>
              <a:rPr lang="en-US" sz="1800" dirty="0"/>
              <a:t> using model accuracy, confusion matrix, and real/simulated datasets to ensure reliability and clinical relevance.</a:t>
            </a:r>
            <a:endParaRPr lang="en-US" sz="1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422060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a:xfrm>
            <a:off x="457200" y="1600200"/>
            <a:ext cx="8229600" cy="4724400"/>
          </a:xfrm>
        </p:spPr>
        <p:txBody>
          <a:bodyPr>
            <a:normAutofit fontScale="85000" lnSpcReduction="20000"/>
          </a:bodyPr>
          <a:lstStyle/>
          <a:p>
            <a:pPr marL="0" indent="0" algn="just">
              <a:buNone/>
            </a:pPr>
            <a:r>
              <a:rPr lang="en-US" sz="2100" dirty="0"/>
              <a:t>Infant mortality remains a critical global health challenge, especially among children under the age of five. Early identification of infants who are at higher risk is essential for enabling timely intervention and improving survival outcomes.</a:t>
            </a:r>
          </a:p>
          <a:p>
            <a:pPr marL="0" indent="0" algn="just">
              <a:buNone/>
            </a:pPr>
            <a:endParaRPr lang="en-US" sz="2100" dirty="0"/>
          </a:p>
          <a:p>
            <a:pPr marL="0" indent="0" algn="just">
              <a:buNone/>
            </a:pPr>
            <a:r>
              <a:rPr lang="en-US" sz="2100" dirty="0"/>
              <a:t>This project introduces an integrated </a:t>
            </a:r>
            <a:r>
              <a:rPr lang="en-US" sz="2100" b="1" dirty="0"/>
              <a:t>Machine Learning + AI–driven framework</a:t>
            </a:r>
            <a:r>
              <a:rPr lang="en-US" sz="2100" dirty="0"/>
              <a:t> designed to assess infant mortality risk using key maternal and infant health indicators, including:</a:t>
            </a:r>
          </a:p>
          <a:p>
            <a:pPr lvl="1" algn="just"/>
            <a:r>
              <a:rPr lang="en-US" sz="2000" dirty="0"/>
              <a:t>Birth weight</a:t>
            </a:r>
          </a:p>
          <a:p>
            <a:pPr lvl="1" algn="just"/>
            <a:r>
              <a:rPr lang="en-US" sz="2000" dirty="0"/>
              <a:t>Maternal age</a:t>
            </a:r>
          </a:p>
          <a:p>
            <a:pPr lvl="1" algn="just"/>
            <a:r>
              <a:rPr lang="en-US" sz="2000" dirty="0"/>
              <a:t>Immunization status</a:t>
            </a:r>
          </a:p>
          <a:p>
            <a:pPr lvl="1" algn="just"/>
            <a:r>
              <a:rPr lang="en-US" sz="2000" dirty="0"/>
              <a:t>Nutrition score</a:t>
            </a:r>
          </a:p>
          <a:p>
            <a:pPr lvl="1" algn="just"/>
            <a:r>
              <a:rPr lang="en-US" sz="2000" dirty="0"/>
              <a:t>Socioeconomic category</a:t>
            </a:r>
          </a:p>
          <a:p>
            <a:pPr lvl="1" algn="just"/>
            <a:r>
              <a:rPr lang="en-US" sz="2000" dirty="0"/>
              <a:t>Prenatal care visits</a:t>
            </a:r>
          </a:p>
          <a:p>
            <a:pPr algn="just"/>
            <a:endParaRPr lang="en-US" sz="2100" dirty="0"/>
          </a:p>
          <a:p>
            <a:pPr marL="0" indent="0" algn="just">
              <a:buNone/>
            </a:pPr>
            <a:r>
              <a:rPr lang="en-US" sz="2100" dirty="0"/>
              <a:t>Using these features, the system applies supervised machine learning classification techniques to predict mortality risk. Multiple models were trained and evaluated using a balanced dataset (SMOTE), and </a:t>
            </a:r>
            <a:r>
              <a:rPr lang="en-US" sz="2100" b="1" dirty="0"/>
              <a:t>CatBoostClassifier</a:t>
            </a:r>
            <a:r>
              <a:rPr lang="en-US" sz="2100" dirty="0"/>
              <a:t> achieved the highest accuracy and was selected as the final predictive model.</a:t>
            </a:r>
          </a:p>
          <a:p>
            <a:pPr marL="0" indent="0">
              <a:buNone/>
            </a:pPr>
            <a:endParaRPr lang="en-US" sz="1800" dirty="0"/>
          </a:p>
        </p:txBody>
      </p:sp>
    </p:spTree>
    <p:extLst>
      <p:ext uri="{BB962C8B-B14F-4D97-AF65-F5344CB8AC3E}">
        <p14:creationId xmlns:p14="http://schemas.microsoft.com/office/powerpoint/2010/main" val="1215694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a:xfrm>
            <a:off x="457200" y="1600200"/>
            <a:ext cx="8229600" cy="4724400"/>
          </a:xfrm>
        </p:spPr>
        <p:txBody>
          <a:bodyPr>
            <a:normAutofit lnSpcReduction="10000"/>
          </a:bodyPr>
          <a:lstStyle/>
          <a:p>
            <a:pPr marL="0" indent="0" algn="just">
              <a:buNone/>
            </a:pPr>
            <a:r>
              <a:rPr lang="en-US" sz="1800" dirty="0"/>
              <a:t>Infants identified as </a:t>
            </a:r>
            <a:r>
              <a:rPr lang="en-US" sz="1800" b="1" dirty="0"/>
              <a:t>high-risk</a:t>
            </a:r>
            <a:r>
              <a:rPr lang="en-US" sz="1800" dirty="0"/>
              <a:t> receive a personalized survival plan generated through an integrated </a:t>
            </a:r>
            <a:r>
              <a:rPr lang="en-US" sz="1800" b="1" dirty="0"/>
              <a:t>GPT-based AI module</a:t>
            </a:r>
            <a:r>
              <a:rPr lang="en-US" sz="1800" dirty="0"/>
              <a:t>. These plans provide actionable, year-wise recommendations, including:</a:t>
            </a:r>
          </a:p>
          <a:p>
            <a:pPr lvl="1" algn="just"/>
            <a:r>
              <a:rPr lang="en-US" sz="1800" dirty="0"/>
              <a:t>Nutrition improvements</a:t>
            </a:r>
          </a:p>
          <a:p>
            <a:pPr lvl="1" algn="just"/>
            <a:r>
              <a:rPr lang="en-US" sz="1800" dirty="0"/>
              <a:t>Preventive healthcare steps</a:t>
            </a:r>
          </a:p>
          <a:p>
            <a:pPr lvl="1" algn="just"/>
            <a:r>
              <a:rPr lang="en-US" sz="1800" dirty="0"/>
              <a:t>Follow-up and monitoring schedules</a:t>
            </a:r>
          </a:p>
          <a:p>
            <a:pPr lvl="1" algn="just"/>
            <a:r>
              <a:rPr lang="en-US" sz="1800" dirty="0"/>
              <a:t>Early childhood developmental activities</a:t>
            </a:r>
          </a:p>
          <a:p>
            <a:pPr marL="0" indent="0" algn="just">
              <a:buNone/>
            </a:pPr>
            <a:endParaRPr lang="en-US" sz="1800" dirty="0"/>
          </a:p>
          <a:p>
            <a:pPr marL="0" indent="0" algn="just">
              <a:buNone/>
            </a:pPr>
            <a:r>
              <a:rPr lang="en-US" sz="1800" dirty="0"/>
              <a:t>The system is deployed through a </a:t>
            </a:r>
            <a:r>
              <a:rPr lang="en-US" sz="1800" b="1" dirty="0"/>
              <a:t>web-based interface</a:t>
            </a:r>
            <a:r>
              <a:rPr lang="en-US" sz="1800" dirty="0"/>
              <a:t>, enabling caregivers and healthcare workers to enter infant health details and instantly receive the ML-predicted risk along with AI-generated guidance.</a:t>
            </a:r>
          </a:p>
          <a:p>
            <a:pPr marL="0" indent="0" algn="just">
              <a:buNone/>
            </a:pPr>
            <a:endParaRPr lang="en-US" sz="1800" dirty="0"/>
          </a:p>
          <a:p>
            <a:pPr marL="0" indent="0" algn="just">
              <a:buNone/>
            </a:pPr>
            <a:r>
              <a:rPr lang="en-US" sz="1800" dirty="0"/>
              <a:t>With a trained </a:t>
            </a:r>
            <a:r>
              <a:rPr lang="en-US" sz="1800" b="1" dirty="0"/>
              <a:t>CatBoostClassifier</a:t>
            </a:r>
            <a:r>
              <a:rPr lang="en-US" sz="1800" dirty="0"/>
              <a:t> model powering risk prediction and a robust GPT engine generating structured survival plans, the system demonstrates strong potential to enhance pediatric care through </a:t>
            </a:r>
            <a:r>
              <a:rPr lang="en-US" sz="1800" b="1" dirty="0"/>
              <a:t>data-driven decision support and intelligent recommendation generation</a:t>
            </a:r>
            <a:r>
              <a:rPr lang="en-US" sz="1800" dirty="0"/>
              <a:t>.</a:t>
            </a:r>
          </a:p>
          <a:p>
            <a:pPr marL="0" indent="0">
              <a:buNone/>
            </a:pPr>
            <a:endParaRPr lang="en-US" sz="1800" dirty="0"/>
          </a:p>
        </p:txBody>
      </p:sp>
    </p:spTree>
    <p:extLst>
      <p:ext uri="{BB962C8B-B14F-4D97-AF65-F5344CB8AC3E}">
        <p14:creationId xmlns:p14="http://schemas.microsoft.com/office/powerpoint/2010/main" val="352254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8CBDE-0827-4FD2-A155-317D276AAC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4F8DE8CD-9A9D-4D80-AA3B-CA32C36B5B45}"/>
              </a:ext>
            </a:extLst>
          </p:cNvPr>
          <p:cNvSpPr>
            <a:spLocks noGrp="1"/>
          </p:cNvSpPr>
          <p:nvPr>
            <p:ph idx="1"/>
          </p:nvPr>
        </p:nvSpPr>
        <p:spPr/>
        <p:txBody>
          <a:bodyPr>
            <a:normAutofit lnSpcReduction="10000"/>
          </a:bodyPr>
          <a:lstStyle/>
          <a:p>
            <a:r>
              <a:rPr lang="en-US" sz="2400" dirty="0"/>
              <a:t>User Authentication Module</a:t>
            </a:r>
          </a:p>
          <a:p>
            <a:endParaRPr lang="en-US" sz="2400" dirty="0"/>
          </a:p>
          <a:p>
            <a:r>
              <a:rPr lang="en-US" sz="2400" dirty="0"/>
              <a:t>User Interface &amp; Input Collection Module</a:t>
            </a:r>
          </a:p>
          <a:p>
            <a:endParaRPr lang="en-US" sz="2400" dirty="0"/>
          </a:p>
          <a:p>
            <a:r>
              <a:rPr lang="en-US" sz="2400" dirty="0"/>
              <a:t>Machine Learning Prediction Module</a:t>
            </a:r>
          </a:p>
          <a:p>
            <a:endParaRPr lang="en-US" sz="2400" dirty="0"/>
          </a:p>
          <a:p>
            <a:r>
              <a:rPr lang="en-US" sz="2400" dirty="0"/>
              <a:t>AI Survival Plan Generator Module</a:t>
            </a:r>
          </a:p>
          <a:p>
            <a:endParaRPr lang="en-US" sz="2400" dirty="0"/>
          </a:p>
          <a:p>
            <a:r>
              <a:rPr lang="en-US" sz="2400" dirty="0"/>
              <a:t>Explainable AI (XAI) Module</a:t>
            </a:r>
          </a:p>
          <a:p>
            <a:endParaRPr lang="en-US" sz="2400" dirty="0"/>
          </a:p>
          <a:p>
            <a:r>
              <a:rPr lang="en-US" sz="2400" dirty="0"/>
              <a:t>Data Handling &amp; Persistent Storage Module</a:t>
            </a:r>
          </a:p>
        </p:txBody>
      </p:sp>
    </p:spTree>
    <p:extLst>
      <p:ext uri="{BB962C8B-B14F-4D97-AF65-F5344CB8AC3E}">
        <p14:creationId xmlns:p14="http://schemas.microsoft.com/office/powerpoint/2010/main" val="3499909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70F242-9986-45FA-B548-3B3C2804DEC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6" name="Content Placeholder 5">
            <a:extLst>
              <a:ext uri="{FF2B5EF4-FFF2-40B4-BE49-F238E27FC236}">
                <a16:creationId xmlns:a16="http://schemas.microsoft.com/office/drawing/2014/main" id="{47F35DF9-5B40-45A4-8316-95C987905211}"/>
              </a:ext>
            </a:extLst>
          </p:cNvPr>
          <p:cNvSpPr>
            <a:spLocks noGrp="1"/>
          </p:cNvSpPr>
          <p:nvPr>
            <p:ph idx="1"/>
          </p:nvPr>
        </p:nvSpPr>
        <p:spPr>
          <a:xfrm>
            <a:off x="457200" y="1219200"/>
            <a:ext cx="8229600" cy="4906963"/>
          </a:xfrm>
        </p:spPr>
        <p:txBody>
          <a:bodyPr>
            <a:normAutofit/>
          </a:bodyPr>
          <a:lstStyle/>
          <a:p>
            <a:pPr algn="just"/>
            <a:r>
              <a:rPr lang="en-US" sz="2000" b="1" dirty="0"/>
              <a:t>User Authentication Module</a:t>
            </a:r>
          </a:p>
          <a:p>
            <a:pPr lvl="1" algn="just"/>
            <a:r>
              <a:rPr lang="en-US" sz="1800" dirty="0"/>
              <a:t>Provides secure access and personalized history management for each user.</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User Registration </a:t>
            </a:r>
            <a:r>
              <a:rPr lang="en-US" sz="1800" dirty="0"/>
              <a:t>– Creates new accounts with securely hashed passwords</a:t>
            </a:r>
          </a:p>
          <a:p>
            <a:pPr lvl="1" algn="just">
              <a:buFont typeface="Wingdings" panose="05000000000000000000" pitchFamily="2" charset="2"/>
              <a:buChar char="ü"/>
            </a:pPr>
            <a:r>
              <a:rPr lang="en-US" sz="1800" b="1" dirty="0"/>
              <a:t>User Login </a:t>
            </a:r>
            <a:r>
              <a:rPr lang="en-US" sz="1800" dirty="0"/>
              <a:t>– Session-based authentication using Flask server sessions</a:t>
            </a:r>
          </a:p>
          <a:p>
            <a:pPr lvl="1" algn="just">
              <a:buFont typeface="Wingdings" panose="05000000000000000000" pitchFamily="2" charset="2"/>
              <a:buChar char="ü"/>
            </a:pPr>
            <a:r>
              <a:rPr lang="en-US" sz="1800" b="1" dirty="0"/>
              <a:t>Guest-to-User Sync </a:t>
            </a:r>
            <a:r>
              <a:rPr lang="en-US" sz="1600" dirty="0"/>
              <a:t>– </a:t>
            </a:r>
            <a:r>
              <a:rPr lang="en-US" sz="1800" dirty="0"/>
              <a:t>Merges guest predictions into user’s permanent history after login</a:t>
            </a:r>
          </a:p>
          <a:p>
            <a:pPr lvl="1" algn="just">
              <a:buFont typeface="Wingdings" panose="05000000000000000000" pitchFamily="2" charset="2"/>
              <a:buChar char="ü"/>
            </a:pPr>
            <a:r>
              <a:rPr lang="en-US" sz="1800" b="1" dirty="0"/>
              <a:t>Secure Session Handling </a:t>
            </a:r>
            <a:r>
              <a:rPr lang="en-US" sz="1800" dirty="0"/>
              <a:t>– Protects user data and prevents unauthorized access</a:t>
            </a:r>
          </a:p>
        </p:txBody>
      </p:sp>
      <p:pic>
        <p:nvPicPr>
          <p:cNvPr id="10" name="Picture 9">
            <a:extLst>
              <a:ext uri="{FF2B5EF4-FFF2-40B4-BE49-F238E27FC236}">
                <a16:creationId xmlns:a16="http://schemas.microsoft.com/office/drawing/2014/main" id="{87EF3497-B219-4D95-B208-A6C640D6B1D3}"/>
              </a:ext>
            </a:extLst>
          </p:cNvPr>
          <p:cNvPicPr>
            <a:picLocks noChangeAspect="1"/>
          </p:cNvPicPr>
          <p:nvPr/>
        </p:nvPicPr>
        <p:blipFill rotWithShape="1">
          <a:blip r:embed="rId2"/>
          <a:srcRect l="3473" t="27725" r="3473" b="3044"/>
          <a:stretch/>
        </p:blipFill>
        <p:spPr>
          <a:xfrm>
            <a:off x="2590800" y="4343400"/>
            <a:ext cx="3962400" cy="1905000"/>
          </a:xfrm>
          <a:prstGeom prst="rect">
            <a:avLst/>
          </a:prstGeom>
        </p:spPr>
      </p:pic>
    </p:spTree>
    <p:extLst>
      <p:ext uri="{BB962C8B-B14F-4D97-AF65-F5344CB8AC3E}">
        <p14:creationId xmlns:p14="http://schemas.microsoft.com/office/powerpoint/2010/main" val="2677549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5BA2-A14A-48C0-BE11-5F40595EC51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ED34B578-ECAE-4DCE-ADD3-AD8B72871F83}"/>
              </a:ext>
            </a:extLst>
          </p:cNvPr>
          <p:cNvSpPr>
            <a:spLocks noGrp="1"/>
          </p:cNvSpPr>
          <p:nvPr>
            <p:ph idx="1"/>
          </p:nvPr>
        </p:nvSpPr>
        <p:spPr>
          <a:xfrm>
            <a:off x="457200" y="1219200"/>
            <a:ext cx="8229600" cy="4906963"/>
          </a:xfrm>
        </p:spPr>
        <p:txBody>
          <a:bodyPr>
            <a:normAutofit/>
          </a:bodyPr>
          <a:lstStyle/>
          <a:p>
            <a:pPr algn="just"/>
            <a:r>
              <a:rPr lang="en-US" sz="2000" b="1" dirty="0"/>
              <a:t>User Interface &amp; Input Collection Module</a:t>
            </a:r>
          </a:p>
          <a:p>
            <a:pPr lvl="1" algn="just"/>
            <a:r>
              <a:rPr lang="en-US" sz="1800" dirty="0"/>
              <a:t>Delivers an interactive interface for entering infant details and viewing prediction results.</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Input Collection </a:t>
            </a:r>
            <a:r>
              <a:rPr lang="en-US" sz="1800" dirty="0"/>
              <a:t>–Gathers birth weight, maternal age, immunization, nutrition, socioeconomic status, and prenatal visits</a:t>
            </a:r>
          </a:p>
          <a:p>
            <a:pPr lvl="1" algn="just">
              <a:buFont typeface="Wingdings" panose="05000000000000000000" pitchFamily="2" charset="2"/>
              <a:buChar char="ü"/>
            </a:pPr>
            <a:r>
              <a:rPr lang="en-US" sz="1800" b="1" dirty="0"/>
              <a:t>Responsive &amp; Modern UI </a:t>
            </a:r>
            <a:r>
              <a:rPr lang="en-US" sz="1800" dirty="0"/>
              <a:t>– Built with HTML/CSS/JS; supports dark mode and  smooth transitions</a:t>
            </a:r>
          </a:p>
          <a:p>
            <a:pPr lvl="1" algn="just">
              <a:buFont typeface="Wingdings" panose="05000000000000000000" pitchFamily="2" charset="2"/>
              <a:buChar char="ü"/>
            </a:pPr>
            <a:r>
              <a:rPr lang="en-US" sz="1800" b="1" dirty="0"/>
              <a:t>Real-Time Results Display </a:t>
            </a:r>
            <a:r>
              <a:rPr lang="en-US" sz="1800" dirty="0"/>
              <a:t>– Shows probability meter, risk category, and survival plan</a:t>
            </a:r>
            <a:endParaRPr lang="en-US" sz="2000" dirty="0"/>
          </a:p>
        </p:txBody>
      </p:sp>
      <p:pic>
        <p:nvPicPr>
          <p:cNvPr id="9" name="Picture 8">
            <a:extLst>
              <a:ext uri="{FF2B5EF4-FFF2-40B4-BE49-F238E27FC236}">
                <a16:creationId xmlns:a16="http://schemas.microsoft.com/office/drawing/2014/main" id="{BCFA4499-D08C-4FB4-A8B5-6B76D497AF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590800" y="4419600"/>
            <a:ext cx="4191000" cy="2286000"/>
          </a:xfrm>
          <a:prstGeom prst="rect">
            <a:avLst/>
          </a:prstGeom>
        </p:spPr>
      </p:pic>
    </p:spTree>
    <p:extLst>
      <p:ext uri="{BB962C8B-B14F-4D97-AF65-F5344CB8AC3E}">
        <p14:creationId xmlns:p14="http://schemas.microsoft.com/office/powerpoint/2010/main" val="177409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BA2EC-8337-4F70-A4C4-129B51250F5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39ACEC0E-A92D-4CB9-BAC6-2F68777DF903}"/>
              </a:ext>
            </a:extLst>
          </p:cNvPr>
          <p:cNvSpPr>
            <a:spLocks noGrp="1"/>
          </p:cNvSpPr>
          <p:nvPr>
            <p:ph idx="1"/>
          </p:nvPr>
        </p:nvSpPr>
        <p:spPr>
          <a:xfrm>
            <a:off x="439994" y="1166018"/>
            <a:ext cx="8229600" cy="4525963"/>
          </a:xfrm>
        </p:spPr>
        <p:txBody>
          <a:bodyPr>
            <a:normAutofit/>
          </a:bodyPr>
          <a:lstStyle/>
          <a:p>
            <a:pPr algn="just"/>
            <a:r>
              <a:rPr lang="en-US" sz="2000" b="1" dirty="0"/>
              <a:t>Machine Learning Prediction Module</a:t>
            </a:r>
          </a:p>
          <a:p>
            <a:pPr lvl="1" algn="just"/>
            <a:r>
              <a:rPr lang="en-US" sz="1800" dirty="0"/>
              <a:t>Generates accurate risk predictions based on infant health parameters.</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Input Validation </a:t>
            </a:r>
            <a:r>
              <a:rPr lang="en-US" sz="1800" dirty="0"/>
              <a:t>– Converts numeric and categorical data into ML-ready format.</a:t>
            </a:r>
          </a:p>
          <a:p>
            <a:pPr lvl="1" algn="just">
              <a:buFont typeface="Wingdings" panose="05000000000000000000" pitchFamily="2" charset="2"/>
              <a:buChar char="ü"/>
            </a:pPr>
            <a:r>
              <a:rPr lang="en-US" sz="1800" b="1" dirty="0"/>
              <a:t>Model Inference </a:t>
            </a:r>
            <a:r>
              <a:rPr lang="en-US" sz="1800" dirty="0"/>
              <a:t>–</a:t>
            </a:r>
            <a:r>
              <a:rPr lang="en-US" sz="1800" b="1" dirty="0"/>
              <a:t> </a:t>
            </a:r>
            <a:r>
              <a:rPr lang="en-US" sz="1800" dirty="0"/>
              <a:t>Uses the trained model (model.pkl) and produces risk probability and classification</a:t>
            </a:r>
          </a:p>
          <a:p>
            <a:pPr lvl="1" algn="just">
              <a:buFont typeface="Wingdings" panose="05000000000000000000" pitchFamily="2" charset="2"/>
              <a:buChar char="ü"/>
            </a:pPr>
            <a:r>
              <a:rPr lang="en-US" sz="1800" b="1" dirty="0"/>
              <a:t>Optimized Pipeline </a:t>
            </a:r>
            <a:r>
              <a:rPr lang="en-US" sz="1800" dirty="0"/>
              <a:t>– Fast prediction with pre-loaded model.pkl</a:t>
            </a:r>
          </a:p>
          <a:p>
            <a:pPr lvl="1" algn="just">
              <a:buFont typeface="Wingdings" panose="05000000000000000000" pitchFamily="2" charset="2"/>
              <a:buChar char="ü"/>
            </a:pPr>
            <a:r>
              <a:rPr lang="en-US" sz="1800" b="1" dirty="0"/>
              <a:t>Results </a:t>
            </a:r>
            <a:r>
              <a:rPr lang="en-US" sz="1800" dirty="0"/>
              <a:t>– Probability, Risk category for frontend display</a:t>
            </a:r>
            <a:endParaRPr lang="en-US" sz="1800" b="1" dirty="0"/>
          </a:p>
        </p:txBody>
      </p:sp>
      <p:pic>
        <p:nvPicPr>
          <p:cNvPr id="7" name="Picture 6">
            <a:extLst>
              <a:ext uri="{FF2B5EF4-FFF2-40B4-BE49-F238E27FC236}">
                <a16:creationId xmlns:a16="http://schemas.microsoft.com/office/drawing/2014/main" id="{307346DD-B359-4F2B-B93F-E34CF23F0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7186" y="4419600"/>
            <a:ext cx="4829628" cy="1638624"/>
          </a:xfrm>
          <a:prstGeom prst="rect">
            <a:avLst/>
          </a:prstGeom>
        </p:spPr>
      </p:pic>
    </p:spTree>
    <p:extLst>
      <p:ext uri="{BB962C8B-B14F-4D97-AF65-F5344CB8AC3E}">
        <p14:creationId xmlns:p14="http://schemas.microsoft.com/office/powerpoint/2010/main" val="3373935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E72A-528D-482B-90A7-A8F9E83A88A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511891E5-3F8B-465D-AF96-01DC1CD8D269}"/>
              </a:ext>
            </a:extLst>
          </p:cNvPr>
          <p:cNvSpPr>
            <a:spLocks noGrp="1"/>
          </p:cNvSpPr>
          <p:nvPr>
            <p:ph idx="1"/>
          </p:nvPr>
        </p:nvSpPr>
        <p:spPr>
          <a:xfrm>
            <a:off x="457200" y="1417638"/>
            <a:ext cx="8229600" cy="4525963"/>
          </a:xfrm>
        </p:spPr>
        <p:txBody>
          <a:bodyPr>
            <a:normAutofit/>
          </a:bodyPr>
          <a:lstStyle/>
          <a:p>
            <a:pPr algn="just"/>
            <a:r>
              <a:rPr lang="en-US" sz="2000" b="1" dirty="0"/>
              <a:t>AI Survival Plan Generator Module</a:t>
            </a:r>
          </a:p>
          <a:p>
            <a:pPr lvl="1" algn="just"/>
            <a:r>
              <a:rPr lang="en-US" sz="1800" dirty="0"/>
              <a:t>Generates a personalized, year-wise care plan (0-5 years) to reduce mortality risk using GPT-based AI guidance.</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HuggingFace GPT Integration </a:t>
            </a:r>
            <a:r>
              <a:rPr lang="en-US" sz="1800" dirty="0"/>
              <a:t>– Generates 0-5 year actionable survival plans</a:t>
            </a:r>
          </a:p>
          <a:p>
            <a:pPr lvl="1" algn="just">
              <a:buFont typeface="Wingdings" panose="05000000000000000000" pitchFamily="2" charset="2"/>
              <a:buChar char="ü"/>
            </a:pPr>
            <a:r>
              <a:rPr lang="en-US" sz="1800" b="1" dirty="0"/>
              <a:t>Prompt Engineering </a:t>
            </a:r>
            <a:r>
              <a:rPr lang="en-US" sz="1800" dirty="0"/>
              <a:t>– Ensures output follows a fixed format </a:t>
            </a:r>
          </a:p>
          <a:p>
            <a:pPr lvl="2" algn="just"/>
            <a:r>
              <a:rPr lang="en-US" sz="1800" dirty="0"/>
              <a:t>Year 0-1 , Year 1-2, Year 2-3, Year 3-4, Year 4-5</a:t>
            </a:r>
          </a:p>
          <a:p>
            <a:pPr lvl="1" algn="just">
              <a:buFont typeface="Wingdings" panose="05000000000000000000" pitchFamily="2" charset="2"/>
              <a:buChar char="ü"/>
            </a:pPr>
            <a:r>
              <a:rPr lang="en-US" sz="1800" b="1" dirty="0"/>
              <a:t>Personalized Recommendations</a:t>
            </a:r>
            <a:r>
              <a:rPr lang="en-US" sz="1800" dirty="0"/>
              <a:t> – Tailored steps based on nutrition, immunization, birth weight, maternal age, etc..</a:t>
            </a:r>
          </a:p>
        </p:txBody>
      </p:sp>
      <p:pic>
        <p:nvPicPr>
          <p:cNvPr id="5" name="Picture 4">
            <a:extLst>
              <a:ext uri="{FF2B5EF4-FFF2-40B4-BE49-F238E27FC236}">
                <a16:creationId xmlns:a16="http://schemas.microsoft.com/office/drawing/2014/main" id="{62772CBE-0EC7-44FD-A4B2-E08BB13B3B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24100" y="4410204"/>
            <a:ext cx="4495799" cy="2173158"/>
          </a:xfrm>
          <a:prstGeom prst="rect">
            <a:avLst/>
          </a:prstGeom>
        </p:spPr>
      </p:pic>
    </p:spTree>
    <p:extLst>
      <p:ext uri="{BB962C8B-B14F-4D97-AF65-F5344CB8AC3E}">
        <p14:creationId xmlns:p14="http://schemas.microsoft.com/office/powerpoint/2010/main" val="1266977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B516-33AF-496D-B7FB-3C7AEBCCE155}"/>
              </a:ext>
            </a:extLst>
          </p:cNvPr>
          <p:cNvSpPr>
            <a:spLocks noGrp="1"/>
          </p:cNvSpPr>
          <p:nvPr>
            <p:ph type="title"/>
          </p:nvPr>
        </p:nvSpPr>
        <p:spPr>
          <a:xfrm>
            <a:off x="457200" y="152400"/>
            <a:ext cx="8229600" cy="1143000"/>
          </a:xfrm>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3B96CEFF-22E1-468F-BBEB-CE0ECC84BB4D}"/>
              </a:ext>
            </a:extLst>
          </p:cNvPr>
          <p:cNvSpPr>
            <a:spLocks noGrp="1"/>
          </p:cNvSpPr>
          <p:nvPr>
            <p:ph idx="1"/>
          </p:nvPr>
        </p:nvSpPr>
        <p:spPr>
          <a:xfrm>
            <a:off x="457199" y="1676400"/>
            <a:ext cx="8229600" cy="3200400"/>
          </a:xfrm>
        </p:spPr>
        <p:txBody>
          <a:bodyPr>
            <a:normAutofit/>
          </a:bodyPr>
          <a:lstStyle/>
          <a:p>
            <a:pPr algn="just"/>
            <a:r>
              <a:rPr lang="en-US" sz="2000" b="1" dirty="0"/>
              <a:t>Explainable AI (XAI) Module</a:t>
            </a:r>
          </a:p>
          <a:p>
            <a:pPr lvl="1" algn="just"/>
            <a:r>
              <a:rPr lang="en-US" sz="1800" dirty="0"/>
              <a:t>Provides clear, human-understandable explanations for ML predictions.</a:t>
            </a:r>
          </a:p>
          <a:p>
            <a:pPr marL="457200" lvl="1" indent="0" algn="just">
              <a:buNone/>
            </a:pPr>
            <a:r>
              <a:rPr lang="en-US" sz="1900" b="1" dirty="0"/>
              <a:t>Key Functionalities:</a:t>
            </a:r>
          </a:p>
          <a:p>
            <a:pPr lvl="1" algn="just">
              <a:buFont typeface="Wingdings" panose="05000000000000000000" pitchFamily="2" charset="2"/>
              <a:buChar char="ü"/>
            </a:pPr>
            <a:r>
              <a:rPr lang="en-US" sz="1800" b="1" dirty="0"/>
              <a:t>Multi-Stage Explainability Pipeline </a:t>
            </a:r>
            <a:r>
              <a:rPr lang="en-US" sz="1800" dirty="0"/>
              <a:t>– Uses SHAP (primary), linear coefficients, and heuristic fallback to generate explanations</a:t>
            </a:r>
          </a:p>
          <a:p>
            <a:pPr lvl="1" algn="just">
              <a:buFont typeface="Wingdings" panose="05000000000000000000" pitchFamily="2" charset="2"/>
              <a:buChar char="ü"/>
            </a:pPr>
            <a:r>
              <a:rPr lang="en-US" sz="1800" b="1" dirty="0"/>
              <a:t>Feature Impact Indicators</a:t>
            </a:r>
            <a:r>
              <a:rPr lang="en-US" sz="1800" dirty="0"/>
              <a:t> (↑ increases risk, ↓ decreases risk, → neutral)</a:t>
            </a:r>
          </a:p>
          <a:p>
            <a:pPr lvl="1" algn="just">
              <a:buFont typeface="Wingdings" panose="05000000000000000000" pitchFamily="2" charset="2"/>
              <a:buChar char="ü"/>
            </a:pPr>
            <a:r>
              <a:rPr lang="en-US" sz="1800" b="1" dirty="0"/>
              <a:t>UI Integration </a:t>
            </a:r>
            <a:r>
              <a:rPr lang="en-US" sz="1800" dirty="0"/>
              <a:t>– Expandable “Explain Prediction” section in UI</a:t>
            </a:r>
            <a:endParaRPr lang="en-US" sz="1800" b="1" dirty="0"/>
          </a:p>
        </p:txBody>
      </p:sp>
      <p:pic>
        <p:nvPicPr>
          <p:cNvPr id="11" name="Picture 10">
            <a:extLst>
              <a:ext uri="{FF2B5EF4-FFF2-40B4-BE49-F238E27FC236}">
                <a16:creationId xmlns:a16="http://schemas.microsoft.com/office/drawing/2014/main" id="{EFC3AF28-9103-4C23-99BA-88C32DBDB3E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427252" y="4104507"/>
            <a:ext cx="4289493" cy="2601093"/>
          </a:xfrm>
          <a:prstGeom prst="rect">
            <a:avLst/>
          </a:prstGeom>
        </p:spPr>
      </p:pic>
    </p:spTree>
    <p:extLst>
      <p:ext uri="{BB962C8B-B14F-4D97-AF65-F5344CB8AC3E}">
        <p14:creationId xmlns:p14="http://schemas.microsoft.com/office/powerpoint/2010/main" val="2615226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E9FC9-D9B2-4864-978E-1EB201ED24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C1E8BB42-BEC2-4570-B846-96945FE40B0C}"/>
              </a:ext>
            </a:extLst>
          </p:cNvPr>
          <p:cNvSpPr>
            <a:spLocks noGrp="1"/>
          </p:cNvSpPr>
          <p:nvPr>
            <p:ph idx="1"/>
          </p:nvPr>
        </p:nvSpPr>
        <p:spPr>
          <a:xfrm>
            <a:off x="457200" y="1600200"/>
            <a:ext cx="8229600" cy="4525963"/>
          </a:xfrm>
        </p:spPr>
        <p:txBody>
          <a:bodyPr>
            <a:normAutofit/>
          </a:bodyPr>
          <a:lstStyle/>
          <a:p>
            <a:r>
              <a:rPr lang="en-US" sz="2000" b="1" dirty="0"/>
              <a:t>Data Handling &amp; Persistent Storage Module</a:t>
            </a:r>
          </a:p>
          <a:p>
            <a:pPr lvl="1"/>
            <a:r>
              <a:rPr lang="en-US" sz="1800" dirty="0"/>
              <a:t>Enable long-term storage and retrieval of user prediction history</a:t>
            </a:r>
          </a:p>
          <a:p>
            <a:pPr marL="457200" lvl="1" indent="0">
              <a:buNone/>
            </a:pPr>
            <a:r>
              <a:rPr lang="en-US" sz="1900" b="1" dirty="0"/>
              <a:t>Key Functionalities:</a:t>
            </a:r>
          </a:p>
          <a:p>
            <a:pPr lvl="1">
              <a:buFont typeface="Wingdings" panose="05000000000000000000" pitchFamily="2" charset="2"/>
              <a:buChar char="ü"/>
            </a:pPr>
            <a:r>
              <a:rPr lang="en-US" sz="1800" b="1" dirty="0"/>
              <a:t>SQLite Database </a:t>
            </a:r>
            <a:r>
              <a:rPr lang="en-US" sz="1800" dirty="0"/>
              <a:t>–Replace in-memory storage with persistent DB</a:t>
            </a:r>
          </a:p>
          <a:p>
            <a:pPr lvl="1">
              <a:buFont typeface="Wingdings" panose="05000000000000000000" pitchFamily="2" charset="2"/>
              <a:buChar char="ü"/>
            </a:pPr>
            <a:r>
              <a:rPr lang="en-US" sz="1800" b="1" dirty="0"/>
              <a:t>User History Retrieval</a:t>
            </a:r>
            <a:r>
              <a:rPr lang="en-US" sz="1800" dirty="0"/>
              <a:t> – Logged-in users can view past predictions</a:t>
            </a:r>
          </a:p>
          <a:p>
            <a:pPr lvl="1">
              <a:buFont typeface="Wingdings" panose="05000000000000000000" pitchFamily="2" charset="2"/>
              <a:buChar char="ü"/>
            </a:pPr>
            <a:r>
              <a:rPr lang="en-US" sz="1800" b="1" dirty="0"/>
              <a:t>Guest-to-User Migration</a:t>
            </a:r>
            <a:r>
              <a:rPr lang="en-US" sz="1800" dirty="0"/>
              <a:t> – Local history merges into DB after login</a:t>
            </a:r>
          </a:p>
          <a:p>
            <a:pPr lvl="1">
              <a:buFont typeface="Wingdings" panose="05000000000000000000" pitchFamily="2" charset="2"/>
              <a:buChar char="ü"/>
            </a:pPr>
            <a:r>
              <a:rPr lang="en-US" sz="1800" b="1" dirty="0"/>
              <a:t>Delete History </a:t>
            </a:r>
            <a:r>
              <a:rPr lang="en-US" sz="1800" dirty="0"/>
              <a:t>–Remove specific prediction entries</a:t>
            </a:r>
          </a:p>
        </p:txBody>
      </p:sp>
      <p:pic>
        <p:nvPicPr>
          <p:cNvPr id="5" name="Picture 4">
            <a:extLst>
              <a:ext uri="{FF2B5EF4-FFF2-40B4-BE49-F238E27FC236}">
                <a16:creationId xmlns:a16="http://schemas.microsoft.com/office/drawing/2014/main" id="{1D0B59EC-A2CF-4407-82A8-D18B688FD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050" y="4114800"/>
            <a:ext cx="3771900" cy="2590800"/>
          </a:xfrm>
          <a:prstGeom prst="rect">
            <a:avLst/>
          </a:prstGeom>
        </p:spPr>
      </p:pic>
    </p:spTree>
    <p:extLst>
      <p:ext uri="{BB962C8B-B14F-4D97-AF65-F5344CB8AC3E}">
        <p14:creationId xmlns:p14="http://schemas.microsoft.com/office/powerpoint/2010/main" val="2061441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Result Evaluation</a:t>
            </a:r>
          </a:p>
        </p:txBody>
      </p:sp>
      <p:pic>
        <p:nvPicPr>
          <p:cNvPr id="6" name="Picture 5">
            <a:extLst>
              <a:ext uri="{FF2B5EF4-FFF2-40B4-BE49-F238E27FC236}">
                <a16:creationId xmlns:a16="http://schemas.microsoft.com/office/drawing/2014/main" id="{559E88CC-9729-472D-978D-BAAAA9715E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1371600"/>
            <a:ext cx="7010400" cy="4572000"/>
          </a:xfrm>
          <a:prstGeom prst="rect">
            <a:avLst/>
          </a:prstGeom>
        </p:spPr>
      </p:pic>
    </p:spTree>
    <p:extLst>
      <p:ext uri="{BB962C8B-B14F-4D97-AF65-F5344CB8AC3E}">
        <p14:creationId xmlns:p14="http://schemas.microsoft.com/office/powerpoint/2010/main" val="2410163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Result Evaluation</a:t>
            </a:r>
          </a:p>
        </p:txBody>
      </p:sp>
      <p:pic>
        <p:nvPicPr>
          <p:cNvPr id="6" name="Picture 5">
            <a:extLst>
              <a:ext uri="{FF2B5EF4-FFF2-40B4-BE49-F238E27FC236}">
                <a16:creationId xmlns:a16="http://schemas.microsoft.com/office/drawing/2014/main" id="{559E88CC-9729-472D-978D-BAAAA9715E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57400" y="1295400"/>
            <a:ext cx="5029200" cy="5029200"/>
          </a:xfrm>
          <a:prstGeom prst="rect">
            <a:avLst/>
          </a:prstGeom>
        </p:spPr>
      </p:pic>
    </p:spTree>
    <p:extLst>
      <p:ext uri="{BB962C8B-B14F-4D97-AF65-F5344CB8AC3E}">
        <p14:creationId xmlns:p14="http://schemas.microsoft.com/office/powerpoint/2010/main" val="869747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7EE2-AA18-46D3-B36E-3C5B213FF8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D83BBD2-57ED-4195-BC16-37D681CFC093}"/>
              </a:ext>
            </a:extLst>
          </p:cNvPr>
          <p:cNvSpPr>
            <a:spLocks noGrp="1"/>
          </p:cNvSpPr>
          <p:nvPr>
            <p:ph idx="1"/>
          </p:nvPr>
        </p:nvSpPr>
        <p:spPr/>
        <p:txBody>
          <a:bodyPr>
            <a:normAutofit/>
          </a:bodyPr>
          <a:lstStyle/>
          <a:p>
            <a:pPr algn="just"/>
            <a:r>
              <a:rPr lang="en-US" sz="1800" dirty="0"/>
              <a:t>The system successfully integrates </a:t>
            </a:r>
            <a:r>
              <a:rPr lang="en-US" sz="1800" b="1" dirty="0"/>
              <a:t>Machine Learning (CatBoost)</a:t>
            </a:r>
            <a:r>
              <a:rPr lang="en-US" sz="1800" dirty="0"/>
              <a:t> and </a:t>
            </a:r>
            <a:r>
              <a:rPr lang="en-US" sz="1800" b="1" dirty="0"/>
              <a:t>GPT-based AI</a:t>
            </a:r>
            <a:r>
              <a:rPr lang="en-US" sz="1800" dirty="0"/>
              <a:t> to predict infant mortality risk and provide personalized survival plans.</a:t>
            </a:r>
          </a:p>
          <a:p>
            <a:pPr algn="just"/>
            <a:endParaRPr lang="en-US" sz="1800" dirty="0"/>
          </a:p>
          <a:p>
            <a:pPr algn="just"/>
            <a:r>
              <a:rPr lang="en-US" sz="1800" dirty="0"/>
              <a:t>A working </a:t>
            </a:r>
            <a:r>
              <a:rPr lang="en-US" sz="1800" b="1" dirty="0"/>
              <a:t>Flask Backend API</a:t>
            </a:r>
            <a:r>
              <a:rPr lang="en-US" sz="1800" dirty="0"/>
              <a:t> and </a:t>
            </a:r>
            <a:r>
              <a:rPr lang="en-US" sz="1800" b="1" dirty="0"/>
              <a:t>Web UI</a:t>
            </a:r>
            <a:r>
              <a:rPr lang="en-US" sz="1800" dirty="0"/>
              <a:t> enable real-time prediction and guidance delivery.</a:t>
            </a:r>
          </a:p>
          <a:p>
            <a:pPr algn="just"/>
            <a:endParaRPr lang="en-US" sz="1800" dirty="0"/>
          </a:p>
          <a:p>
            <a:pPr algn="just"/>
            <a:r>
              <a:rPr lang="en-US" sz="1800" dirty="0"/>
              <a:t>Early evaluations show </a:t>
            </a:r>
            <a:r>
              <a:rPr lang="en-US" sz="1800" b="1" dirty="0"/>
              <a:t>strong model accuracy (0.9612)</a:t>
            </a:r>
            <a:r>
              <a:rPr lang="en-US" sz="1800" dirty="0"/>
              <a:t> and meaningful, structured AI recommendations.</a:t>
            </a:r>
          </a:p>
          <a:p>
            <a:pPr algn="just"/>
            <a:endParaRPr lang="en-US" sz="1800" dirty="0"/>
          </a:p>
          <a:p>
            <a:pPr algn="just"/>
            <a:r>
              <a:rPr lang="en-US" sz="1800" dirty="0"/>
              <a:t>The combined ML–AI approach demonstrates significant potential to </a:t>
            </a:r>
            <a:r>
              <a:rPr lang="en-US" sz="1800" b="1" dirty="0"/>
              <a:t>support proactive pediatric care</a:t>
            </a:r>
            <a:r>
              <a:rPr lang="en-US" sz="1800" dirty="0"/>
              <a:t> and improve early intervention outcomes.</a:t>
            </a:r>
          </a:p>
          <a:p>
            <a:pPr algn="just"/>
            <a:endParaRPr lang="en-US" sz="1800" dirty="0"/>
          </a:p>
          <a:p>
            <a:pPr algn="just"/>
            <a:r>
              <a:rPr lang="en-US" sz="1800" dirty="0"/>
              <a:t>Planned enhancements include </a:t>
            </a:r>
            <a:r>
              <a:rPr lang="en-US" sz="1800" b="1" dirty="0"/>
              <a:t>persistent storage</a:t>
            </a:r>
            <a:r>
              <a:rPr lang="en-US" sz="1800" dirty="0"/>
              <a:t>, </a:t>
            </a:r>
            <a:r>
              <a:rPr lang="en-US" sz="1800" b="1" dirty="0"/>
              <a:t>SHAP explainability</a:t>
            </a:r>
            <a:r>
              <a:rPr lang="en-US" sz="1800" dirty="0"/>
              <a:t>, and </a:t>
            </a:r>
            <a:r>
              <a:rPr lang="en-US" sz="1800" b="1" dirty="0"/>
              <a:t>expanded clinical validation</a:t>
            </a:r>
            <a:r>
              <a:rPr lang="en-US" sz="1800" dirty="0"/>
              <a:t> to further strengthen system reliability and impact.</a:t>
            </a:r>
          </a:p>
        </p:txBody>
      </p:sp>
    </p:spTree>
    <p:extLst>
      <p:ext uri="{BB962C8B-B14F-4D97-AF65-F5344CB8AC3E}">
        <p14:creationId xmlns:p14="http://schemas.microsoft.com/office/powerpoint/2010/main" val="3178955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966</TotalTime>
  <Words>889</Words>
  <Application>Microsoft Office PowerPoint</Application>
  <PresentationFormat>On-screen Show (4:3)</PresentationFormat>
  <Paragraphs>105</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INTELLIGENT INFANT HEALTH PREDICTOR WITH PERSONALIZED AI GUIDANCE</vt:lpstr>
      <vt:lpstr>OBJECTIVE</vt:lpstr>
      <vt:lpstr>ABSTRACT</vt:lpstr>
      <vt:lpstr>ABSTRACT</vt:lpstr>
      <vt:lpstr>Modules</vt:lpstr>
      <vt:lpstr>Modules</vt:lpstr>
      <vt:lpstr>Modules</vt:lpstr>
      <vt:lpstr>Modules</vt:lpstr>
      <vt:lpstr>Modules</vt:lpstr>
      <vt:lpstr>Modules</vt:lpstr>
      <vt:lpstr>Modules</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Lalith</dc:creator>
  <cp:lastModifiedBy>Chirudeep k</cp:lastModifiedBy>
  <cp:revision>54</cp:revision>
  <dcterms:created xsi:type="dcterms:W3CDTF">2006-08-16T00:00:00Z</dcterms:created>
  <dcterms:modified xsi:type="dcterms:W3CDTF">2026-02-03T06:15:38Z</dcterms:modified>
</cp:coreProperties>
</file>