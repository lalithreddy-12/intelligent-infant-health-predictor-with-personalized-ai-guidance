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5" r:id="rId3"/>
    <p:sldId id="274" r:id="rId4"/>
    <p:sldId id="273" r:id="rId5"/>
    <p:sldId id="276" r:id="rId6"/>
    <p:sldId id="277" r:id="rId7"/>
    <p:sldId id="269" r:id="rId8"/>
    <p:sldId id="270" r:id="rId9"/>
    <p:sldId id="271" r:id="rId10"/>
    <p:sldId id="272" r:id="rId11"/>
    <p:sldId id="278" r:id="rId12"/>
    <p:sldId id="27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58" autoAdjust="0"/>
  </p:normalViewPr>
  <p:slideViewPr>
    <p:cSldViewPr>
      <p:cViewPr>
        <p:scale>
          <a:sx n="76" d="100"/>
          <a:sy n="76" d="100"/>
        </p:scale>
        <p:origin x="1642"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0200"/>
            <a:ext cx="8229600" cy="609601"/>
          </a:xfrm>
        </p:spPr>
        <p:txBody>
          <a:bodyPr>
            <a:normAutofit fontScale="90000"/>
          </a:bodyPr>
          <a:lstStyle/>
          <a:p>
            <a:pPr algn="ctr">
              <a:lnSpc>
                <a:spcPct val="115000"/>
              </a:lnSpc>
              <a:spcAft>
                <a:spcPts val="100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SIDDHARTH INSTITUTE OF ENGINEERING &amp; TECHNOLOGY</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 (AUTONOMOUS)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(Approved by AICTE, New Delhi &amp; Affiliated to JNTUA, </a:t>
            </a:r>
            <a:r>
              <a:rPr lang="en-US" sz="1800" dirty="0" err="1">
                <a:effectLst/>
                <a:latin typeface="Times New Roman" panose="02020603050405020304" pitchFamily="18" charset="0"/>
                <a:ea typeface="Arial Black" panose="020B0A04020102020204" pitchFamily="34" charset="0"/>
                <a:cs typeface="Times New Roman" panose="02020603050405020304" pitchFamily="18" charset="0"/>
              </a:rPr>
              <a:t>Ananthapuramu</a:t>
            </a: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NBA for Civil, EEE, Mech., ECE &amp; CSE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NAAC with ‘A+’ Grade)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Puttur -517583,Tirupathi District, A.P. (India)</a:t>
            </a:r>
            <a:b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DEPARTMENT OF COMPUTER SCIENCE AND ENGINEERING</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latin typeface="Times New Roman" panose="02020603050405020304" pitchFamily="18" charset="0"/>
                <a:ea typeface="Arial Black" panose="020B0A04020102020204" pitchFamily="34" charset="0"/>
                <a:cs typeface="Times New Roman" panose="02020603050405020304" pitchFamily="18" charset="0"/>
              </a:rPr>
              <a:t>CSE (ARTIFICIAL INTELLIGENCE AND DATA SCIENCE)</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Academic Year 2025-26</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Siddharth Institute of Engineering &amp; Technology - [SIETK], Puttur -  Admissions, Contact, Website, Facilities 2021-2022"/>
          <p:cNvPicPr>
            <a:picLocks noChangeAspect="1" noChangeArrowheads="1"/>
          </p:cNvPicPr>
          <p:nvPr/>
        </p:nvPicPr>
        <p:blipFill>
          <a:blip r:embed="rId2"/>
          <a:srcRect/>
          <a:stretch>
            <a:fillRect/>
          </a:stretch>
        </p:blipFill>
        <p:spPr bwMode="auto">
          <a:xfrm>
            <a:off x="213915" y="528235"/>
            <a:ext cx="990599" cy="866775"/>
          </a:xfrm>
          <a:prstGeom prst="rect">
            <a:avLst/>
          </a:prstGeom>
          <a:noFill/>
        </p:spPr>
      </p:pic>
      <p:sp>
        <p:nvSpPr>
          <p:cNvPr id="6" name="Rectangle 5"/>
          <p:cNvSpPr/>
          <p:nvPr/>
        </p:nvSpPr>
        <p:spPr>
          <a:xfrm>
            <a:off x="463296" y="3523576"/>
            <a:ext cx="2286000" cy="369332"/>
          </a:xfrm>
          <a:prstGeom prst="rect">
            <a:avLst/>
          </a:prstGeom>
        </p:spPr>
        <p:txBody>
          <a:bodyPr wrap="square">
            <a:spAutoFit/>
          </a:bodyPr>
          <a:lstStyle/>
          <a:p>
            <a:pPr lvl="0">
              <a:spcBef>
                <a:spcPct val="0"/>
              </a:spcBef>
              <a:defRPr/>
            </a:pPr>
            <a:r>
              <a:rPr lang="en-US" b="1" dirty="0">
                <a:latin typeface="Times New Roman" pitchFamily="18" charset="0"/>
                <a:cs typeface="Times New Roman" pitchFamily="18" charset="0"/>
              </a:rPr>
              <a:t>Batch Details : </a:t>
            </a:r>
          </a:p>
        </p:txBody>
      </p:sp>
      <p:sp>
        <p:nvSpPr>
          <p:cNvPr id="9" name="Rectangle 8"/>
          <p:cNvSpPr/>
          <p:nvPr/>
        </p:nvSpPr>
        <p:spPr>
          <a:xfrm>
            <a:off x="3061808" y="2553370"/>
            <a:ext cx="3020379" cy="461665"/>
          </a:xfrm>
          <a:prstGeom prst="rect">
            <a:avLst/>
          </a:prstGeom>
        </p:spPr>
        <p:txBody>
          <a:bodyPr wrap="none">
            <a:spAutoFit/>
          </a:bodyPr>
          <a:lstStyle/>
          <a:p>
            <a:r>
              <a:rPr lang="en-US" sz="2400" dirty="0">
                <a:latin typeface="Times New Roman" pitchFamily="18" charset="0"/>
                <a:cs typeface="Times New Roman" pitchFamily="18" charset="0"/>
              </a:rPr>
              <a:t>    Project First Review</a:t>
            </a:r>
            <a:endParaRPr lang="en-US" sz="2400" dirty="0"/>
          </a:p>
        </p:txBody>
      </p:sp>
      <p:sp>
        <p:nvSpPr>
          <p:cNvPr id="10" name="Rectangle 9"/>
          <p:cNvSpPr/>
          <p:nvPr/>
        </p:nvSpPr>
        <p:spPr>
          <a:xfrm>
            <a:off x="361724" y="2956094"/>
            <a:ext cx="8420548" cy="707886"/>
          </a:xfrm>
          <a:prstGeom prst="rect">
            <a:avLst/>
          </a:prstGeom>
        </p:spPr>
        <p:txBody>
          <a:bodyPr wrap="square">
            <a:spAutoFit/>
          </a:bodyPr>
          <a:lstStyle/>
          <a:p>
            <a:r>
              <a:rPr lang="en-US" sz="2000" b="1" dirty="0">
                <a:latin typeface="Times New Roman" pitchFamily="18" charset="0"/>
                <a:cs typeface="Times New Roman" pitchFamily="18" charset="0"/>
              </a:rPr>
              <a:t>Title of Project : </a:t>
            </a:r>
            <a:r>
              <a:rPr lang="en-US" sz="2000" dirty="0">
                <a:latin typeface="Times New Roman" pitchFamily="18" charset="0"/>
                <a:cs typeface="Times New Roman" pitchFamily="18" charset="0"/>
              </a:rPr>
              <a:t>Intelligent Infant Health Predictor with Personalized AI 						Guidance </a:t>
            </a:r>
          </a:p>
        </p:txBody>
      </p:sp>
      <p:graphicFrame>
        <p:nvGraphicFramePr>
          <p:cNvPr id="5" name="Table 10">
            <a:extLst>
              <a:ext uri="{FF2B5EF4-FFF2-40B4-BE49-F238E27FC236}">
                <a16:creationId xmlns:a16="http://schemas.microsoft.com/office/drawing/2014/main" id="{9726D40B-79FA-5C9C-B1C6-5162A7D08BEA}"/>
              </a:ext>
            </a:extLst>
          </p:cNvPr>
          <p:cNvGraphicFramePr>
            <a:graphicFrameLocks noGrp="1"/>
          </p:cNvGraphicFramePr>
          <p:nvPr>
            <p:extLst>
              <p:ext uri="{D42A27DB-BD31-4B8C-83A1-F6EECF244321}">
                <p14:modId xmlns:p14="http://schemas.microsoft.com/office/powerpoint/2010/main" val="2911068624"/>
              </p:ext>
            </p:extLst>
          </p:nvPr>
        </p:nvGraphicFramePr>
        <p:xfrm>
          <a:off x="455135" y="4007549"/>
          <a:ext cx="8305801" cy="2322216"/>
        </p:xfrm>
        <a:graphic>
          <a:graphicData uri="http://schemas.openxmlformats.org/drawingml/2006/table">
            <a:tbl>
              <a:tblPr firstRow="1" bandRow="1">
                <a:tableStyleId>{F5AB1C69-6EDB-4FF4-983F-18BD219EF322}</a:tableStyleId>
              </a:tblPr>
              <a:tblGrid>
                <a:gridCol w="1349693">
                  <a:extLst>
                    <a:ext uri="{9D8B030D-6E8A-4147-A177-3AD203B41FA5}">
                      <a16:colId xmlns:a16="http://schemas.microsoft.com/office/drawing/2014/main" val="3454361256"/>
                    </a:ext>
                  </a:extLst>
                </a:gridCol>
                <a:gridCol w="2284095">
                  <a:extLst>
                    <a:ext uri="{9D8B030D-6E8A-4147-A177-3AD203B41FA5}">
                      <a16:colId xmlns:a16="http://schemas.microsoft.com/office/drawing/2014/main" val="115167568"/>
                    </a:ext>
                  </a:extLst>
                </a:gridCol>
                <a:gridCol w="2081212">
                  <a:extLst>
                    <a:ext uri="{9D8B030D-6E8A-4147-A177-3AD203B41FA5}">
                      <a16:colId xmlns:a16="http://schemas.microsoft.com/office/drawing/2014/main" val="2541411041"/>
                    </a:ext>
                  </a:extLst>
                </a:gridCol>
                <a:gridCol w="2590801">
                  <a:extLst>
                    <a:ext uri="{9D8B030D-6E8A-4147-A177-3AD203B41FA5}">
                      <a16:colId xmlns:a16="http://schemas.microsoft.com/office/drawing/2014/main" val="247963892"/>
                    </a:ext>
                  </a:extLst>
                </a:gridCol>
              </a:tblGrid>
              <a:tr h="382653">
                <a:tc>
                  <a:txBody>
                    <a:bodyPr/>
                    <a:lstStyle/>
                    <a:p>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REG 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INTERNAL GUIDE</a:t>
                      </a:r>
                      <a:endParaRPr lang="en-IN" dirty="0">
                        <a:latin typeface="Times New Roman" panose="02020603050405020304" pitchFamily="18" charset="0"/>
                        <a:cs typeface="Times New Roman" panose="02020603050405020304" pitchFamily="18" charset="0"/>
                      </a:endParaRPr>
                    </a:p>
                  </a:txBody>
                  <a:tcPr>
                    <a:solidFill>
                      <a:srgbClr val="7030A0"/>
                    </a:solidFill>
                  </a:tcPr>
                </a:tc>
                <a:extLst>
                  <a:ext uri="{0D108BD9-81ED-4DB2-BD59-A6C34878D82A}">
                    <a16:rowId xmlns:a16="http://schemas.microsoft.com/office/drawing/2014/main" val="1859435710"/>
                  </a:ext>
                </a:extLst>
              </a:tr>
              <a:tr h="433161">
                <a:tc>
                  <a:txBody>
                    <a:bodyPr/>
                    <a:lstStyle/>
                    <a:p>
                      <a:r>
                        <a:rPr lang="en-IN" dirty="0"/>
                        <a:t>1</a:t>
                      </a:r>
                    </a:p>
                  </a:txBody>
                  <a:tcPr/>
                </a:tc>
                <a:tc>
                  <a:txBody>
                    <a:bodyPr/>
                    <a:lstStyle/>
                    <a:p>
                      <a:r>
                        <a:rPr lang="en-IN" dirty="0">
                          <a:latin typeface="Times New Roman" panose="02020603050405020304" pitchFamily="18" charset="0"/>
                          <a:cs typeface="Times New Roman" panose="02020603050405020304" pitchFamily="18" charset="0"/>
                        </a:rPr>
                        <a:t>22F61A4788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K LALITH</a:t>
                      </a:r>
                    </a:p>
                  </a:txBody>
                  <a:tcPr/>
                </a:tc>
                <a:tc rowSpan="3">
                  <a:txBody>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 SRINIVASULU</a:t>
                      </a:r>
                    </a:p>
                  </a:txBody>
                  <a:tcPr/>
                </a:tc>
                <a:extLst>
                  <a:ext uri="{0D108BD9-81ED-4DB2-BD59-A6C34878D82A}">
                    <a16:rowId xmlns:a16="http://schemas.microsoft.com/office/drawing/2014/main" val="3672826067"/>
                  </a:ext>
                </a:extLst>
              </a:tr>
              <a:tr h="433161">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22F61A4793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P MAHITHA           PRANATHI</a:t>
                      </a:r>
                    </a:p>
                  </a:txBody>
                  <a:tcPr/>
                </a:tc>
                <a:tc vMerge="1">
                  <a:txBody>
                    <a:bodyPr/>
                    <a:lstStyle/>
                    <a:p>
                      <a:endParaRPr lang="en-IN" dirty="0"/>
                    </a:p>
                  </a:txBody>
                  <a:tcPr/>
                </a:tc>
                <a:extLst>
                  <a:ext uri="{0D108BD9-81ED-4DB2-BD59-A6C34878D82A}">
                    <a16:rowId xmlns:a16="http://schemas.microsoft.com/office/drawing/2014/main" val="873735473"/>
                  </a:ext>
                </a:extLst>
              </a:tr>
              <a:tr h="433161">
                <a:tc>
                  <a:txBody>
                    <a:bodyPr/>
                    <a:lstStyle/>
                    <a:p>
                      <a:r>
                        <a:rPr lang="en-IN" dirty="0"/>
                        <a:t>3</a:t>
                      </a:r>
                    </a:p>
                  </a:txBody>
                  <a:tcPr/>
                </a:tc>
                <a:tc>
                  <a:txBody>
                    <a:bodyPr/>
                    <a:lstStyle/>
                    <a:p>
                      <a:r>
                        <a:rPr lang="en-IN" dirty="0">
                          <a:latin typeface="Times New Roman" panose="02020603050405020304" pitchFamily="18" charset="0"/>
                          <a:cs typeface="Times New Roman" panose="02020603050405020304" pitchFamily="18" charset="0"/>
                        </a:rPr>
                        <a:t>22F61A4790</a:t>
                      </a:r>
                    </a:p>
                  </a:txBody>
                  <a:tcPr/>
                </a:tc>
                <a:tc>
                  <a:txBody>
                    <a:bodyPr/>
                    <a:lstStyle/>
                    <a:p>
                      <a:r>
                        <a:rPr lang="en-IN" dirty="0">
                          <a:latin typeface="Times New Roman" panose="02020603050405020304" pitchFamily="18" charset="0"/>
                          <a:cs typeface="Times New Roman" panose="02020603050405020304" pitchFamily="18" charset="0"/>
                        </a:rPr>
                        <a:t>P MADHU</a:t>
                      </a:r>
                    </a:p>
                  </a:txBody>
                  <a:tcPr/>
                </a:tc>
                <a:tc vMerge="1">
                  <a:txBody>
                    <a:bodyPr/>
                    <a:lstStyle/>
                    <a:p>
                      <a:endParaRPr lang="en-IN" dirty="0"/>
                    </a:p>
                  </a:txBody>
                  <a:tcPr/>
                </a:tc>
                <a:extLst>
                  <a:ext uri="{0D108BD9-81ED-4DB2-BD59-A6C34878D82A}">
                    <a16:rowId xmlns:a16="http://schemas.microsoft.com/office/drawing/2014/main" val="2383131700"/>
                  </a:ext>
                </a:extLst>
              </a:tr>
              <a:tr h="433161">
                <a:tc>
                  <a:txBody>
                    <a:bodyPr/>
                    <a:lstStyle/>
                    <a:p>
                      <a:r>
                        <a:rPr lang="en-IN" dirty="0"/>
                        <a:t>4</a:t>
                      </a:r>
                    </a:p>
                  </a:txBody>
                  <a:tcPr/>
                </a:tc>
                <a:tc>
                  <a:txBody>
                    <a:bodyPr/>
                    <a:lstStyle/>
                    <a:p>
                      <a:r>
                        <a:rPr lang="en-IN" dirty="0">
                          <a:latin typeface="Times New Roman" panose="02020603050405020304" pitchFamily="18" charset="0"/>
                          <a:cs typeface="Times New Roman" panose="02020603050405020304" pitchFamily="18" charset="0"/>
                        </a:rPr>
                        <a:t>22F61A4790</a:t>
                      </a:r>
                    </a:p>
                  </a:txBody>
                  <a:tcPr/>
                </a:tc>
                <a:tc>
                  <a:txBody>
                    <a:bodyPr/>
                    <a:lstStyle/>
                    <a:p>
                      <a:r>
                        <a:rPr lang="en-IN" dirty="0">
                          <a:latin typeface="Times New Roman" panose="02020603050405020304" pitchFamily="18" charset="0"/>
                          <a:cs typeface="Times New Roman" panose="02020603050405020304" pitchFamily="18" charset="0"/>
                        </a:rPr>
                        <a:t>K MANOJKUMAR</a:t>
                      </a:r>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A3360A-679A-4D8F-9282-47EAE53307B5}"/>
              </a:ext>
            </a:extLst>
          </p:cNvPr>
          <p:cNvSpPr>
            <a:spLocks noGrp="1"/>
          </p:cNvSpPr>
          <p:nvPr>
            <p:ph type="title"/>
          </p:nvPr>
        </p:nvSpPr>
        <p:spPr/>
        <p:txBody>
          <a:bodyPr/>
          <a:lstStyle/>
          <a:p>
            <a:r>
              <a:rPr lang="en-US" dirty="0">
                <a:latin typeface="Times New Roman" pitchFamily="18" charset="0"/>
                <a:cs typeface="Times New Roman" pitchFamily="18" charset="0"/>
              </a:rPr>
              <a:t>OBJECTIVE</a:t>
            </a:r>
            <a:endParaRPr lang="en-US" dirty="0"/>
          </a:p>
        </p:txBody>
      </p:sp>
      <p:sp>
        <p:nvSpPr>
          <p:cNvPr id="4" name="Content Placeholder 3">
            <a:extLst>
              <a:ext uri="{FF2B5EF4-FFF2-40B4-BE49-F238E27FC236}">
                <a16:creationId xmlns:a16="http://schemas.microsoft.com/office/drawing/2014/main" id="{847D2809-D0E6-45F2-85AC-9AC16C8C0A8E}"/>
              </a:ext>
            </a:extLst>
          </p:cNvPr>
          <p:cNvSpPr>
            <a:spLocks noGrp="1"/>
          </p:cNvSpPr>
          <p:nvPr>
            <p:ph idx="1"/>
          </p:nvPr>
        </p:nvSpPr>
        <p:spPr/>
        <p:txBody>
          <a:bodyPr>
            <a:normAutofit/>
          </a:bodyPr>
          <a:lstStyle/>
          <a:p>
            <a:pPr marL="342900" lvl="0" indent="-342900" algn="just">
              <a:spcBef>
                <a:spcPct val="0"/>
              </a:spcBef>
              <a:buFont typeface="+mj-lt"/>
              <a:buAutoNum type="arabicPeriod"/>
              <a:defRPr/>
            </a:pPr>
            <a:r>
              <a:rPr lang="en-US" sz="1800" b="1" dirty="0"/>
              <a:t>Build a supervised Machine Learning model</a:t>
            </a:r>
            <a:r>
              <a:rPr lang="en-US" sz="1800" dirty="0"/>
              <a:t> (CatBoost) to accurately predict infant mortality risk and classify infants into </a:t>
            </a:r>
            <a:r>
              <a:rPr lang="en-US" sz="1800" i="1" dirty="0"/>
              <a:t>Low-Risk</a:t>
            </a:r>
            <a:r>
              <a:rPr lang="en-US" sz="1800" dirty="0"/>
              <a:t> and </a:t>
            </a:r>
            <a:r>
              <a:rPr lang="en-US" sz="1800" i="1" dirty="0"/>
              <a:t>High-Risk</a:t>
            </a:r>
            <a:r>
              <a:rPr lang="en-US" sz="1800" dirty="0"/>
              <a:t> categories.</a:t>
            </a:r>
          </a:p>
          <a:p>
            <a:pPr marL="342900" lvl="0" indent="-342900" algn="just">
              <a:spcBef>
                <a:spcPct val="0"/>
              </a:spcBef>
              <a:buFont typeface="+mj-lt"/>
              <a:buAutoNum type="arabicPeriod"/>
              <a:defRPr/>
            </a:pPr>
            <a:endParaRPr lang="en-US" sz="1800" dirty="0">
              <a:latin typeface="Times New Roman" pitchFamily="18" charset="0"/>
              <a:cs typeface="Times New Roman" pitchFamily="18" charset="0"/>
            </a:endParaRPr>
          </a:p>
          <a:p>
            <a:pPr marL="342900" lvl="0" indent="-342900" algn="just">
              <a:spcBef>
                <a:spcPct val="0"/>
              </a:spcBef>
              <a:buFont typeface="+mj-lt"/>
              <a:buAutoNum type="arabicPeriod"/>
              <a:defRPr/>
            </a:pPr>
            <a:r>
              <a:rPr lang="en-US" sz="1800" b="1" dirty="0"/>
              <a:t>Integrate a GPT-based AI Engine</a:t>
            </a:r>
            <a:r>
              <a:rPr lang="en-US" sz="1800" dirty="0"/>
              <a:t> (HuggingFace) to generate personalized and actionable survival plans for infants identified as high-risk.</a:t>
            </a:r>
          </a:p>
          <a:p>
            <a:pPr marL="342900" lvl="0" indent="-342900" algn="just">
              <a:spcBef>
                <a:spcPct val="0"/>
              </a:spcBef>
              <a:buFont typeface="+mj-lt"/>
              <a:buAutoNum type="arabicPeriod"/>
              <a:defRPr/>
            </a:pPr>
            <a:endParaRPr lang="en-US" sz="1800" dirty="0"/>
          </a:p>
          <a:p>
            <a:pPr marL="342900" lvl="0" indent="-342900" algn="just">
              <a:spcBef>
                <a:spcPct val="0"/>
              </a:spcBef>
              <a:buFont typeface="+mj-lt"/>
              <a:buAutoNum type="arabicPeriod"/>
              <a:defRPr/>
            </a:pPr>
            <a:r>
              <a:rPr lang="en-US" sz="1800" b="1" dirty="0"/>
              <a:t>Develop a user-friendly web interface</a:t>
            </a:r>
            <a:r>
              <a:rPr lang="en-US" sz="1800" dirty="0"/>
              <a:t> that allows healthcare workers and caregivers to enter infant health data and instantly receive predictions and AI-generated guidance.</a:t>
            </a:r>
          </a:p>
          <a:p>
            <a:pPr marL="342900" lvl="0" indent="-342900" algn="just">
              <a:spcBef>
                <a:spcPct val="0"/>
              </a:spcBef>
              <a:buFont typeface="+mj-lt"/>
              <a:buAutoNum type="arabicPeriod"/>
              <a:defRPr/>
            </a:pPr>
            <a:endParaRPr lang="en-US" sz="1800" dirty="0"/>
          </a:p>
          <a:p>
            <a:pPr marL="342900" lvl="0" indent="-342900" algn="just">
              <a:spcBef>
                <a:spcPct val="0"/>
              </a:spcBef>
              <a:buFont typeface="+mj-lt"/>
              <a:buAutoNum type="arabicPeriod"/>
              <a:defRPr/>
            </a:pPr>
            <a:r>
              <a:rPr lang="en-US" sz="1800" b="1" dirty="0"/>
              <a:t>Enhance proactive pediatric care</a:t>
            </a:r>
            <a:r>
              <a:rPr lang="en-US" sz="1800" dirty="0"/>
              <a:t> by combining ML-based risk assessment with tailored intervention recommendations.</a:t>
            </a:r>
          </a:p>
          <a:p>
            <a:pPr marL="342900" lvl="0" indent="-342900" algn="just">
              <a:spcBef>
                <a:spcPct val="0"/>
              </a:spcBef>
              <a:buFont typeface="+mj-lt"/>
              <a:buAutoNum type="arabicPeriod"/>
              <a:defRPr/>
            </a:pPr>
            <a:endParaRPr lang="en-US" sz="1800" dirty="0"/>
          </a:p>
          <a:p>
            <a:pPr marL="342900" lvl="0" indent="-342900" algn="just">
              <a:spcBef>
                <a:spcPct val="0"/>
              </a:spcBef>
              <a:buFont typeface="+mj-lt"/>
              <a:buAutoNum type="arabicPeriod"/>
              <a:defRPr/>
            </a:pPr>
            <a:r>
              <a:rPr lang="en-US" sz="1800" b="1" dirty="0"/>
              <a:t>Evaluate system performance</a:t>
            </a:r>
            <a:r>
              <a:rPr lang="en-US" sz="1800" dirty="0"/>
              <a:t> using model accuracy, confusion matrix, and real/simulated datasets to ensure reliability and clinical relevance.</a:t>
            </a:r>
            <a:endParaRPr lang="en-US" sz="18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422060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B55E5-38B1-4C25-A1B5-DD0629DBE58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 (V-1)</a:t>
            </a:r>
          </a:p>
        </p:txBody>
      </p:sp>
      <p:sp>
        <p:nvSpPr>
          <p:cNvPr id="3" name="Content Placeholder 2">
            <a:extLst>
              <a:ext uri="{FF2B5EF4-FFF2-40B4-BE49-F238E27FC236}">
                <a16:creationId xmlns:a16="http://schemas.microsoft.com/office/drawing/2014/main" id="{29B3099B-A895-49F5-9582-7EFE50A8C1A1}"/>
              </a:ext>
            </a:extLst>
          </p:cNvPr>
          <p:cNvSpPr>
            <a:spLocks noGrp="1"/>
          </p:cNvSpPr>
          <p:nvPr>
            <p:ph idx="1"/>
          </p:nvPr>
        </p:nvSpPr>
        <p:spPr/>
        <p:txBody>
          <a:bodyPr>
            <a:normAutofit/>
          </a:bodyPr>
          <a:lstStyle/>
          <a:p>
            <a:pPr marL="0" indent="0">
              <a:buNone/>
            </a:pPr>
            <a:r>
              <a:rPr lang="en-US" sz="1800" dirty="0"/>
              <a:t>Infant mortality continues to be a major concern in pediatric healthcare, particularly among children under the age of five. Early identification of infants at high risk enables timely preventive interventions that can greatly improve survival outcomes.</a:t>
            </a:r>
          </a:p>
          <a:p>
            <a:pPr marL="0" indent="0">
              <a:buNone/>
            </a:pPr>
            <a:endParaRPr lang="en-US" sz="1800" dirty="0"/>
          </a:p>
          <a:p>
            <a:pPr marL="0" indent="0">
              <a:buNone/>
            </a:pPr>
            <a:r>
              <a:rPr lang="en-US" sz="1800" dirty="0"/>
              <a:t>This project presents a </a:t>
            </a:r>
            <a:r>
              <a:rPr lang="en-US" sz="1800" b="1" dirty="0"/>
              <a:t>Machine Learning and AI-powered system</a:t>
            </a:r>
            <a:r>
              <a:rPr lang="en-US" sz="1800" dirty="0"/>
              <a:t> designed to predict infant mortality risk using key maternal and infant health indicators such as birth weight, maternal age, immunization status, nutrition score, socioeconomic category, and prenatal care visits.</a:t>
            </a:r>
          </a:p>
          <a:p>
            <a:pPr marL="0" indent="0">
              <a:buNone/>
            </a:pPr>
            <a:endParaRPr lang="en-US" sz="1800" dirty="0"/>
          </a:p>
          <a:p>
            <a:pPr marL="0" indent="0">
              <a:buNone/>
            </a:pPr>
            <a:r>
              <a:rPr lang="en-US" sz="1800" dirty="0"/>
              <a:t>A supervised ML model was trained on structured datasets, and after evaluating multiple algorithms, </a:t>
            </a:r>
            <a:r>
              <a:rPr lang="en-US" sz="1800" b="1" dirty="0"/>
              <a:t>CatBoost emerged as the best-performing model</a:t>
            </a:r>
            <a:r>
              <a:rPr lang="en-US" sz="1800" dirty="0"/>
              <a:t>, providing accurate classification of infants into low-risk and high-risk categories.</a:t>
            </a:r>
          </a:p>
          <a:p>
            <a:endParaRPr lang="en-US" dirty="0"/>
          </a:p>
        </p:txBody>
      </p:sp>
    </p:spTree>
    <p:extLst>
      <p:ext uri="{BB962C8B-B14F-4D97-AF65-F5344CB8AC3E}">
        <p14:creationId xmlns:p14="http://schemas.microsoft.com/office/powerpoint/2010/main" val="117291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82372E-4DED-4F6F-AE88-F919B3F0830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 (V-1)</a:t>
            </a:r>
          </a:p>
        </p:txBody>
      </p:sp>
      <p:sp>
        <p:nvSpPr>
          <p:cNvPr id="4" name="Content Placeholder 3">
            <a:extLst>
              <a:ext uri="{FF2B5EF4-FFF2-40B4-BE49-F238E27FC236}">
                <a16:creationId xmlns:a16="http://schemas.microsoft.com/office/drawing/2014/main" id="{A01483D7-4F7D-494C-BE6E-6B4B8B8AFE41}"/>
              </a:ext>
            </a:extLst>
          </p:cNvPr>
          <p:cNvSpPr>
            <a:spLocks noGrp="1"/>
          </p:cNvSpPr>
          <p:nvPr>
            <p:ph idx="1"/>
          </p:nvPr>
        </p:nvSpPr>
        <p:spPr/>
        <p:txBody>
          <a:bodyPr>
            <a:normAutofit/>
          </a:bodyPr>
          <a:lstStyle/>
          <a:p>
            <a:pPr marL="0" indent="0">
              <a:buNone/>
            </a:pPr>
            <a:r>
              <a:rPr lang="en-US" sz="1800" dirty="0"/>
              <a:t>For infants identified as high-risk, the system integrates a </a:t>
            </a:r>
            <a:r>
              <a:rPr lang="en-US" sz="1800" b="1" dirty="0"/>
              <a:t>HuggingFace GPT-based AI engine</a:t>
            </a:r>
            <a:r>
              <a:rPr lang="en-US" sz="1800" dirty="0"/>
              <a:t> to generate personalized survival plans. These recommendations include nutritional guidance, preventive care measures, follow-up schedules, developmental activities, and physical well-being guidelines.</a:t>
            </a:r>
          </a:p>
          <a:p>
            <a:pPr marL="0" indent="0">
              <a:buNone/>
            </a:pPr>
            <a:endParaRPr lang="en-US" sz="1800" dirty="0"/>
          </a:p>
          <a:p>
            <a:pPr marL="0" indent="0">
              <a:buNone/>
            </a:pPr>
            <a:r>
              <a:rPr lang="en-US" sz="1800" dirty="0"/>
              <a:t>A functional </a:t>
            </a:r>
            <a:r>
              <a:rPr lang="en-US" sz="1800" b="1" dirty="0"/>
              <a:t>Flask-based backend API</a:t>
            </a:r>
            <a:r>
              <a:rPr lang="en-US" sz="1800" dirty="0"/>
              <a:t> and a </a:t>
            </a:r>
            <a:r>
              <a:rPr lang="en-US" sz="1800" b="1" dirty="0"/>
              <a:t>basic web interface</a:t>
            </a:r>
            <a:r>
              <a:rPr lang="en-US" sz="1800" dirty="0"/>
              <a:t> were developed to allow caregivers and healthcare workers to input infant data and instantly receive model predictions along with AI-generated recommendations. Early evaluation has demonstrated strong prediction accuracy from CatBoost and meaningful, structured guidance from the GPT model.</a:t>
            </a:r>
          </a:p>
          <a:p>
            <a:pPr marL="0" indent="0">
              <a:buNone/>
            </a:pPr>
            <a:endParaRPr lang="en-US" sz="1800" dirty="0"/>
          </a:p>
          <a:p>
            <a:pPr marL="0" indent="0">
              <a:buNone/>
            </a:pPr>
            <a:r>
              <a:rPr lang="en-US" sz="1800" dirty="0"/>
              <a:t>The progress achieved so far highlights the potential of combining ML-driven risk assessment with AI-generated decision support to strengthen proactive pediatric care and reduce preventable infant mortality.</a:t>
            </a:r>
          </a:p>
          <a:p>
            <a:pPr marL="0" indent="0">
              <a:buNone/>
            </a:pPr>
            <a:endParaRPr lang="en-US" dirty="0"/>
          </a:p>
        </p:txBody>
      </p:sp>
    </p:spTree>
    <p:extLst>
      <p:ext uri="{BB962C8B-B14F-4D97-AF65-F5344CB8AC3E}">
        <p14:creationId xmlns:p14="http://schemas.microsoft.com/office/powerpoint/2010/main" val="3100582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82372E-4DED-4F6F-AE88-F919B3F0830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 (V-2)</a:t>
            </a:r>
          </a:p>
        </p:txBody>
      </p:sp>
      <p:sp>
        <p:nvSpPr>
          <p:cNvPr id="4" name="Content Placeholder 3">
            <a:extLst>
              <a:ext uri="{FF2B5EF4-FFF2-40B4-BE49-F238E27FC236}">
                <a16:creationId xmlns:a16="http://schemas.microsoft.com/office/drawing/2014/main" id="{A01483D7-4F7D-494C-BE6E-6B4B8B8AFE41}"/>
              </a:ext>
            </a:extLst>
          </p:cNvPr>
          <p:cNvSpPr>
            <a:spLocks noGrp="1"/>
          </p:cNvSpPr>
          <p:nvPr>
            <p:ph idx="1"/>
          </p:nvPr>
        </p:nvSpPr>
        <p:spPr>
          <a:xfrm>
            <a:off x="457200" y="1600200"/>
            <a:ext cx="8229600" cy="4724400"/>
          </a:xfrm>
        </p:spPr>
        <p:txBody>
          <a:bodyPr>
            <a:normAutofit fontScale="85000" lnSpcReduction="20000"/>
          </a:bodyPr>
          <a:lstStyle/>
          <a:p>
            <a:pPr marL="0" indent="0" algn="just">
              <a:buNone/>
            </a:pPr>
            <a:r>
              <a:rPr lang="en-US" sz="2100" dirty="0"/>
              <a:t>Infant mortality remains a critical global health challenge, especially among children under the age of five. Early identification of infants who are at higher risk is essential for enabling timely intervention and improving survival outcomes.</a:t>
            </a:r>
          </a:p>
          <a:p>
            <a:pPr marL="0" indent="0" algn="just">
              <a:buNone/>
            </a:pPr>
            <a:endParaRPr lang="en-US" sz="2100" dirty="0"/>
          </a:p>
          <a:p>
            <a:pPr marL="0" indent="0" algn="just">
              <a:buNone/>
            </a:pPr>
            <a:r>
              <a:rPr lang="en-US" sz="2100" dirty="0"/>
              <a:t>This project introduces an integrated </a:t>
            </a:r>
            <a:r>
              <a:rPr lang="en-US" sz="2100" b="1" dirty="0"/>
              <a:t>Machine Learning + AI–driven framework</a:t>
            </a:r>
            <a:r>
              <a:rPr lang="en-US" sz="2100" dirty="0"/>
              <a:t> designed to assess infant mortality risk using key maternal and infant health indicators, including:</a:t>
            </a:r>
          </a:p>
          <a:p>
            <a:pPr lvl="1" algn="just"/>
            <a:r>
              <a:rPr lang="en-US" sz="2000" dirty="0"/>
              <a:t>Birth weight</a:t>
            </a:r>
          </a:p>
          <a:p>
            <a:pPr lvl="1" algn="just"/>
            <a:r>
              <a:rPr lang="en-US" sz="2000" dirty="0"/>
              <a:t>Maternal age</a:t>
            </a:r>
          </a:p>
          <a:p>
            <a:pPr lvl="1" algn="just"/>
            <a:r>
              <a:rPr lang="en-US" sz="2000" dirty="0"/>
              <a:t>Immunization status</a:t>
            </a:r>
          </a:p>
          <a:p>
            <a:pPr lvl="1" algn="just"/>
            <a:r>
              <a:rPr lang="en-US" sz="2000" dirty="0"/>
              <a:t>Nutrition score</a:t>
            </a:r>
          </a:p>
          <a:p>
            <a:pPr lvl="1" algn="just"/>
            <a:r>
              <a:rPr lang="en-US" sz="2000" dirty="0"/>
              <a:t>Socioeconomic category</a:t>
            </a:r>
          </a:p>
          <a:p>
            <a:pPr lvl="1" algn="just"/>
            <a:r>
              <a:rPr lang="en-US" sz="2000" dirty="0"/>
              <a:t>Prenatal care visits</a:t>
            </a:r>
          </a:p>
          <a:p>
            <a:pPr algn="just"/>
            <a:endParaRPr lang="en-US" sz="2100" dirty="0"/>
          </a:p>
          <a:p>
            <a:pPr marL="0" indent="0" algn="just">
              <a:buNone/>
            </a:pPr>
            <a:r>
              <a:rPr lang="en-US" sz="2100" dirty="0"/>
              <a:t>Using these features, the system applies supervised machine learning classification techniques to predict mortality risk. Multiple models were trained and evaluated using a balanced dataset (SMOTE), and </a:t>
            </a:r>
            <a:r>
              <a:rPr lang="en-US" sz="2100" b="1" dirty="0"/>
              <a:t>CatBoostClassifier</a:t>
            </a:r>
            <a:r>
              <a:rPr lang="en-US" sz="2100" dirty="0"/>
              <a:t> achieved the highest accuracy and was selected as the final predictive model.</a:t>
            </a:r>
          </a:p>
          <a:p>
            <a:pPr marL="0" indent="0">
              <a:buNone/>
            </a:pPr>
            <a:endParaRPr lang="en-US" sz="1800" dirty="0"/>
          </a:p>
        </p:txBody>
      </p:sp>
    </p:spTree>
    <p:extLst>
      <p:ext uri="{BB962C8B-B14F-4D97-AF65-F5344CB8AC3E}">
        <p14:creationId xmlns:p14="http://schemas.microsoft.com/office/powerpoint/2010/main" val="1215694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82372E-4DED-4F6F-AE88-F919B3F0830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 (V-2)</a:t>
            </a:r>
          </a:p>
        </p:txBody>
      </p:sp>
      <p:sp>
        <p:nvSpPr>
          <p:cNvPr id="4" name="Content Placeholder 3">
            <a:extLst>
              <a:ext uri="{FF2B5EF4-FFF2-40B4-BE49-F238E27FC236}">
                <a16:creationId xmlns:a16="http://schemas.microsoft.com/office/drawing/2014/main" id="{A01483D7-4F7D-494C-BE6E-6B4B8B8AFE41}"/>
              </a:ext>
            </a:extLst>
          </p:cNvPr>
          <p:cNvSpPr>
            <a:spLocks noGrp="1"/>
          </p:cNvSpPr>
          <p:nvPr>
            <p:ph idx="1"/>
          </p:nvPr>
        </p:nvSpPr>
        <p:spPr>
          <a:xfrm>
            <a:off x="457200" y="1600200"/>
            <a:ext cx="8229600" cy="4724400"/>
          </a:xfrm>
        </p:spPr>
        <p:txBody>
          <a:bodyPr>
            <a:normAutofit lnSpcReduction="10000"/>
          </a:bodyPr>
          <a:lstStyle/>
          <a:p>
            <a:pPr marL="0" indent="0" algn="just">
              <a:buNone/>
            </a:pPr>
            <a:r>
              <a:rPr lang="en-US" sz="1800" dirty="0"/>
              <a:t>Infants identified as </a:t>
            </a:r>
            <a:r>
              <a:rPr lang="en-US" sz="1800" b="1" dirty="0"/>
              <a:t>high-risk</a:t>
            </a:r>
            <a:r>
              <a:rPr lang="en-US" sz="1800" dirty="0"/>
              <a:t> receive a personalized survival plan generated through an integrated </a:t>
            </a:r>
            <a:r>
              <a:rPr lang="en-US" sz="1800" b="1" dirty="0"/>
              <a:t>GPT-based AI module</a:t>
            </a:r>
            <a:r>
              <a:rPr lang="en-US" sz="1800" dirty="0"/>
              <a:t>. These plans provide actionable, year-wise recommendations, including:</a:t>
            </a:r>
          </a:p>
          <a:p>
            <a:pPr lvl="1" algn="just"/>
            <a:r>
              <a:rPr lang="en-US" sz="1800" dirty="0"/>
              <a:t>Nutrition improvements</a:t>
            </a:r>
          </a:p>
          <a:p>
            <a:pPr lvl="1" algn="just"/>
            <a:r>
              <a:rPr lang="en-US" sz="1800" dirty="0"/>
              <a:t>Preventive healthcare steps</a:t>
            </a:r>
          </a:p>
          <a:p>
            <a:pPr lvl="1" algn="just"/>
            <a:r>
              <a:rPr lang="en-US" sz="1800" dirty="0"/>
              <a:t>Follow-up and monitoring schedules</a:t>
            </a:r>
          </a:p>
          <a:p>
            <a:pPr lvl="1" algn="just"/>
            <a:r>
              <a:rPr lang="en-US" sz="1800" dirty="0"/>
              <a:t>Early childhood developmental activities</a:t>
            </a:r>
          </a:p>
          <a:p>
            <a:pPr marL="0" indent="0" algn="just">
              <a:buNone/>
            </a:pPr>
            <a:endParaRPr lang="en-US" sz="1800" dirty="0"/>
          </a:p>
          <a:p>
            <a:pPr marL="0" indent="0" algn="just">
              <a:buNone/>
            </a:pPr>
            <a:r>
              <a:rPr lang="en-US" sz="1800" dirty="0"/>
              <a:t>The system is deployed through a </a:t>
            </a:r>
            <a:r>
              <a:rPr lang="en-US" sz="1800" b="1" dirty="0"/>
              <a:t>web-based interface</a:t>
            </a:r>
            <a:r>
              <a:rPr lang="en-US" sz="1800" dirty="0"/>
              <a:t>, enabling caregivers and healthcare workers to enter infant health details and instantly receive the ML-predicted risk along with AI-generated guidance.</a:t>
            </a:r>
          </a:p>
          <a:p>
            <a:pPr marL="0" indent="0" algn="just">
              <a:buNone/>
            </a:pPr>
            <a:endParaRPr lang="en-US" sz="1800" dirty="0"/>
          </a:p>
          <a:p>
            <a:pPr marL="0" indent="0" algn="just">
              <a:buNone/>
            </a:pPr>
            <a:r>
              <a:rPr lang="en-US" sz="1800" dirty="0"/>
              <a:t>With a trained </a:t>
            </a:r>
            <a:r>
              <a:rPr lang="en-US" sz="1800" b="1" dirty="0"/>
              <a:t>CatBoostClassifier</a:t>
            </a:r>
            <a:r>
              <a:rPr lang="en-US" sz="1800" dirty="0"/>
              <a:t> model powering risk prediction and a robust GPT engine generating structured survival plans, the system demonstrates strong potential to enhance pediatric care through </a:t>
            </a:r>
            <a:r>
              <a:rPr lang="en-US" sz="1800" b="1" dirty="0"/>
              <a:t>data-driven decision support and intelligent recommendation generation</a:t>
            </a:r>
            <a:r>
              <a:rPr lang="en-US" sz="1800" dirty="0"/>
              <a:t>.</a:t>
            </a:r>
          </a:p>
          <a:p>
            <a:pPr marL="0" indent="0">
              <a:buNone/>
            </a:pPr>
            <a:endParaRPr lang="en-US" sz="1800" dirty="0"/>
          </a:p>
        </p:txBody>
      </p:sp>
    </p:spTree>
    <p:extLst>
      <p:ext uri="{BB962C8B-B14F-4D97-AF65-F5344CB8AC3E}">
        <p14:creationId xmlns:p14="http://schemas.microsoft.com/office/powerpoint/2010/main" val="352254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00438B-4076-4371-A75D-5A001F4C52F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p>
        </p:txBody>
      </p:sp>
      <p:sp>
        <p:nvSpPr>
          <p:cNvPr id="5" name="Content Placeholder 4">
            <a:extLst>
              <a:ext uri="{FF2B5EF4-FFF2-40B4-BE49-F238E27FC236}">
                <a16:creationId xmlns:a16="http://schemas.microsoft.com/office/drawing/2014/main" id="{F1878A1C-BB4A-4287-B747-B166DA06F721}"/>
              </a:ext>
            </a:extLst>
          </p:cNvPr>
          <p:cNvSpPr>
            <a:spLocks noGrp="1"/>
          </p:cNvSpPr>
          <p:nvPr>
            <p:ph sz="half" idx="1"/>
          </p:nvPr>
        </p:nvSpPr>
        <p:spPr>
          <a:xfrm>
            <a:off x="457200" y="1219200"/>
            <a:ext cx="4038600" cy="5364162"/>
          </a:xfrm>
        </p:spPr>
        <p:txBody>
          <a:bodyPr>
            <a:normAutofit lnSpcReduction="10000"/>
          </a:bodyPr>
          <a:lstStyle/>
          <a:p>
            <a:pPr>
              <a:buFont typeface="Wingdings" panose="05000000000000000000" pitchFamily="2" charset="2"/>
              <a:buChar char="Ø"/>
            </a:pPr>
            <a:r>
              <a:rPr lang="en-US" sz="1800" b="1" dirty="0"/>
              <a:t>Data Preprocessing Module</a:t>
            </a:r>
          </a:p>
          <a:p>
            <a:pPr lvl="1"/>
            <a:r>
              <a:rPr lang="en-US" sz="1600" dirty="0"/>
              <a:t>Dataset loaded and cleaned</a:t>
            </a:r>
          </a:p>
          <a:p>
            <a:pPr lvl="1"/>
            <a:r>
              <a:rPr lang="en-US" sz="1600" dirty="0"/>
              <a:t>Class imbalance handled using SMOTE</a:t>
            </a:r>
          </a:p>
          <a:p>
            <a:pPr lvl="1"/>
            <a:r>
              <a:rPr lang="en-US" sz="1600" dirty="0"/>
              <a:t>Train-test split prepared</a:t>
            </a:r>
          </a:p>
          <a:p>
            <a:pPr marL="0" indent="0">
              <a:buNone/>
            </a:pPr>
            <a:endParaRPr lang="en-US" sz="1800" dirty="0"/>
          </a:p>
          <a:p>
            <a:pPr>
              <a:buFont typeface="Wingdings" panose="05000000000000000000" pitchFamily="2" charset="2"/>
              <a:buChar char="Ø"/>
            </a:pPr>
            <a:r>
              <a:rPr lang="en-US" sz="1800" b="1" dirty="0"/>
              <a:t>Machine Learning Module</a:t>
            </a:r>
          </a:p>
          <a:p>
            <a:pPr lvl="1"/>
            <a:r>
              <a:rPr lang="en-US" sz="1600" dirty="0"/>
              <a:t>Multiple ML models tested (RandomForest, XGBoost etc..)</a:t>
            </a:r>
          </a:p>
          <a:p>
            <a:pPr lvl="1"/>
            <a:r>
              <a:rPr lang="en-US" sz="1600" dirty="0"/>
              <a:t>CatBoost selected as best performer (Accuracy: 0.8746, highest among all)</a:t>
            </a:r>
          </a:p>
          <a:p>
            <a:pPr lvl="1"/>
            <a:r>
              <a:rPr lang="en-US" sz="1600" dirty="0"/>
              <a:t>Final model exported as model.pkl</a:t>
            </a:r>
          </a:p>
          <a:p>
            <a:pPr marL="0" indent="0">
              <a:buNone/>
            </a:pPr>
            <a:endParaRPr lang="en-US" sz="1800" dirty="0"/>
          </a:p>
          <a:p>
            <a:pPr>
              <a:buFont typeface="Wingdings" panose="05000000000000000000" pitchFamily="2" charset="2"/>
              <a:buChar char="Ø"/>
            </a:pPr>
            <a:r>
              <a:rPr lang="en-US" sz="1800" b="1" dirty="0"/>
              <a:t>Model Evaluation Module</a:t>
            </a:r>
          </a:p>
          <a:p>
            <a:pPr lvl="1"/>
            <a:r>
              <a:rPr lang="en-US" sz="1600" dirty="0"/>
              <a:t>Accuracy and metrics evaluated </a:t>
            </a:r>
          </a:p>
          <a:p>
            <a:pPr lvl="1"/>
            <a:r>
              <a:rPr lang="en-US" sz="1600" dirty="0"/>
              <a:t>Confusion matrix and performance observed</a:t>
            </a:r>
          </a:p>
          <a:p>
            <a:pPr lvl="1"/>
            <a:r>
              <a:rPr lang="en-US" sz="1600" dirty="0"/>
              <a:t>Best model validated on held-out test data</a:t>
            </a:r>
          </a:p>
        </p:txBody>
      </p:sp>
      <p:sp>
        <p:nvSpPr>
          <p:cNvPr id="6" name="Content Placeholder 5">
            <a:extLst>
              <a:ext uri="{FF2B5EF4-FFF2-40B4-BE49-F238E27FC236}">
                <a16:creationId xmlns:a16="http://schemas.microsoft.com/office/drawing/2014/main" id="{B3CEFDC0-2046-4785-822C-858408F91561}"/>
              </a:ext>
            </a:extLst>
          </p:cNvPr>
          <p:cNvSpPr>
            <a:spLocks noGrp="1"/>
          </p:cNvSpPr>
          <p:nvPr>
            <p:ph sz="half" idx="2"/>
          </p:nvPr>
        </p:nvSpPr>
        <p:spPr>
          <a:xfrm>
            <a:off x="4648200" y="1219200"/>
            <a:ext cx="4038600" cy="5364162"/>
          </a:xfrm>
        </p:spPr>
        <p:txBody>
          <a:bodyPr>
            <a:normAutofit lnSpcReduction="10000"/>
          </a:bodyPr>
          <a:lstStyle/>
          <a:p>
            <a:pPr>
              <a:buFont typeface="Wingdings" panose="05000000000000000000" pitchFamily="2" charset="2"/>
              <a:buChar char="Ø"/>
            </a:pPr>
            <a:r>
              <a:rPr lang="en-US" sz="1800" b="1" dirty="0"/>
              <a:t>AI Survival Plan Generator Module</a:t>
            </a:r>
          </a:p>
          <a:p>
            <a:pPr lvl="1"/>
            <a:r>
              <a:rPr lang="en-US" sz="1600" dirty="0"/>
              <a:t>Full HuggingFace GPT integration</a:t>
            </a:r>
          </a:p>
          <a:p>
            <a:pPr lvl="1"/>
            <a:r>
              <a:rPr lang="en-US" sz="1600" dirty="0"/>
              <a:t>Custom Prompt Engineering</a:t>
            </a:r>
          </a:p>
          <a:p>
            <a:pPr lvl="1"/>
            <a:r>
              <a:rPr lang="en-US" sz="1600" dirty="0"/>
              <a:t>Generates Personalized, year-wise survival plans (0-5 years)</a:t>
            </a:r>
          </a:p>
          <a:p>
            <a:pPr lvl="1"/>
            <a:endParaRPr lang="en-US" sz="1800" dirty="0"/>
          </a:p>
          <a:p>
            <a:pPr>
              <a:buFont typeface="Wingdings" panose="05000000000000000000" pitchFamily="2" charset="2"/>
              <a:buChar char="Ø"/>
            </a:pPr>
            <a:r>
              <a:rPr lang="en-US" sz="1800" b="1" dirty="0"/>
              <a:t>Backend API Module</a:t>
            </a:r>
          </a:p>
          <a:p>
            <a:pPr lvl="1"/>
            <a:r>
              <a:rPr lang="en-US" sz="1600" dirty="0"/>
              <a:t>Implemented with Flask</a:t>
            </a:r>
          </a:p>
          <a:p>
            <a:pPr lvl="1"/>
            <a:r>
              <a:rPr lang="en-US" sz="1600" dirty="0"/>
              <a:t>Endpoints: /api/predict, /predict, /generate-plan</a:t>
            </a:r>
          </a:p>
          <a:p>
            <a:pPr lvl="1"/>
            <a:r>
              <a:rPr lang="en-US" sz="1600" dirty="0"/>
              <a:t>Manages full inference pipeline:     ML prediction → GPT plan → UI flow</a:t>
            </a:r>
          </a:p>
          <a:p>
            <a:pPr marL="0" indent="0">
              <a:buNone/>
            </a:pPr>
            <a:endParaRPr lang="en-US" sz="1800" dirty="0"/>
          </a:p>
          <a:p>
            <a:pPr>
              <a:buFont typeface="Wingdings" panose="05000000000000000000" pitchFamily="2" charset="2"/>
              <a:buChar char="Ø"/>
            </a:pPr>
            <a:r>
              <a:rPr lang="en-US" sz="1800" b="1" dirty="0"/>
              <a:t>User Interface Module</a:t>
            </a:r>
          </a:p>
          <a:p>
            <a:pPr lvl="1"/>
            <a:r>
              <a:rPr lang="en-US" sz="1600" dirty="0"/>
              <a:t>web UI built with HTML, CSS, JavaScript</a:t>
            </a:r>
          </a:p>
          <a:p>
            <a:pPr lvl="1"/>
            <a:r>
              <a:rPr lang="en-US" sz="1600" dirty="0"/>
              <a:t>Collects infant health inputs from user</a:t>
            </a:r>
          </a:p>
          <a:p>
            <a:pPr lvl="1"/>
            <a:r>
              <a:rPr lang="en-US" sz="1600" dirty="0"/>
              <a:t>Displays risk score, probability meter, and AI-generated plan</a:t>
            </a:r>
          </a:p>
          <a:p>
            <a:pPr>
              <a:buFont typeface="Wingdings" panose="05000000000000000000" pitchFamily="2" charset="2"/>
              <a:buChar char="Ø"/>
            </a:pPr>
            <a:endParaRPr lang="en-US" sz="1800" dirty="0"/>
          </a:p>
        </p:txBody>
      </p:sp>
    </p:spTree>
    <p:extLst>
      <p:ext uri="{BB962C8B-B14F-4D97-AF65-F5344CB8AC3E}">
        <p14:creationId xmlns:p14="http://schemas.microsoft.com/office/powerpoint/2010/main" val="524150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FBF50-3D8A-43EE-9464-1B53C6B2470F}"/>
              </a:ext>
            </a:extLst>
          </p:cNvPr>
          <p:cNvSpPr>
            <a:spLocks noGrp="1"/>
          </p:cNvSpPr>
          <p:nvPr>
            <p:ph type="title"/>
          </p:nvPr>
        </p:nvSpPr>
        <p:spPr/>
        <p:txBody>
          <a:bodyPr>
            <a:normAutofit/>
          </a:bodyPr>
          <a:lstStyle/>
          <a:p>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Technological</a:t>
            </a:r>
            <a:r>
              <a:rPr kumimoji="0" lang="en-US" sz="4400" b="0" i="0" u="none" strike="noStrike" kern="1200" cap="none" spc="0" normalizeH="0" noProof="0" dirty="0">
                <a:ln>
                  <a:noFill/>
                </a:ln>
                <a:solidFill>
                  <a:schemeClr val="tx1"/>
                </a:solidFill>
                <a:effectLst/>
                <a:uLnTx/>
                <a:uFillTx/>
                <a:latin typeface="Times New Roman" pitchFamily="18" charset="0"/>
                <a:ea typeface="+mj-ea"/>
                <a:cs typeface="Times New Roman" pitchFamily="18" charset="0"/>
              </a:rPr>
              <a:t> Approach</a:t>
            </a:r>
            <a:endParaRPr lang="en-US" dirty="0"/>
          </a:p>
        </p:txBody>
      </p:sp>
      <p:sp>
        <p:nvSpPr>
          <p:cNvPr id="3" name="Content Placeholder 2">
            <a:extLst>
              <a:ext uri="{FF2B5EF4-FFF2-40B4-BE49-F238E27FC236}">
                <a16:creationId xmlns:a16="http://schemas.microsoft.com/office/drawing/2014/main" id="{6D91B9A2-128E-4E7D-84F3-B11D95555CD7}"/>
              </a:ext>
            </a:extLst>
          </p:cNvPr>
          <p:cNvSpPr>
            <a:spLocks noGrp="1"/>
          </p:cNvSpPr>
          <p:nvPr>
            <p:ph idx="1"/>
          </p:nvPr>
        </p:nvSpPr>
        <p:spPr/>
        <p:txBody>
          <a:bodyPr>
            <a:normAutofit/>
          </a:bodyPr>
          <a:lstStyle/>
          <a:p>
            <a:pPr algn="just"/>
            <a:r>
              <a:rPr lang="en-US" sz="1800" b="1" dirty="0"/>
              <a:t>Machine Learning Layer</a:t>
            </a:r>
          </a:p>
          <a:p>
            <a:pPr lvl="1" algn="just"/>
            <a:r>
              <a:rPr lang="en-US" sz="1700" dirty="0"/>
              <a:t>Dataset cleaned, balanced using SMOTE</a:t>
            </a:r>
          </a:p>
          <a:p>
            <a:pPr lvl="1" algn="just"/>
            <a:r>
              <a:rPr lang="en-US" sz="1700" dirty="0"/>
              <a:t>Multiple models trained (RF, XGB, LGBM, CatBoost, Logistic Regression)</a:t>
            </a:r>
          </a:p>
          <a:p>
            <a:pPr lvl="1" algn="just"/>
            <a:r>
              <a:rPr lang="en-US" sz="1700" dirty="0"/>
              <a:t>Performance evaluated using Accuracy &amp; ROC-AUC</a:t>
            </a:r>
          </a:p>
          <a:p>
            <a:pPr lvl="1" algn="just"/>
            <a:r>
              <a:rPr lang="en-US" sz="1700" dirty="0"/>
              <a:t>CatBoost Classifier selected as best model (Accuracy: 0.8746)</a:t>
            </a:r>
          </a:p>
          <a:p>
            <a:pPr lvl="1" algn="just"/>
            <a:r>
              <a:rPr lang="en-US" sz="1700" dirty="0"/>
              <a:t>Final model saved as model.pkl for inference</a:t>
            </a:r>
          </a:p>
          <a:p>
            <a:pPr marL="457200" lvl="1" indent="0" algn="just">
              <a:buNone/>
            </a:pPr>
            <a:endParaRPr lang="en-US" sz="1400" dirty="0"/>
          </a:p>
          <a:p>
            <a:pPr algn="just"/>
            <a:r>
              <a:rPr lang="en-US" sz="1800" b="1" dirty="0"/>
              <a:t>AI Guidance Layer</a:t>
            </a:r>
          </a:p>
          <a:p>
            <a:pPr lvl="1" algn="just"/>
            <a:r>
              <a:rPr lang="en-US" sz="1700" dirty="0"/>
              <a:t>Integrated HuggingFace GPT for generating personalized survival plans</a:t>
            </a:r>
          </a:p>
          <a:p>
            <a:pPr lvl="1" algn="just"/>
            <a:r>
              <a:rPr lang="en-US" sz="1700" dirty="0"/>
              <a:t>Structured prompt engineering using infant health features</a:t>
            </a:r>
          </a:p>
          <a:p>
            <a:pPr lvl="1" algn="just"/>
            <a:r>
              <a:rPr lang="en-US" sz="1700" dirty="0"/>
              <a:t>Output parsed into Year-wise actionable steps (0-5 years)</a:t>
            </a:r>
          </a:p>
          <a:p>
            <a:pPr lvl="1" algn="just"/>
            <a:r>
              <a:rPr lang="en-US" sz="1700" dirty="0"/>
              <a:t>Fallback system provided for API Failure or issues</a:t>
            </a:r>
          </a:p>
        </p:txBody>
      </p:sp>
    </p:spTree>
    <p:extLst>
      <p:ext uri="{BB962C8B-B14F-4D97-AF65-F5344CB8AC3E}">
        <p14:creationId xmlns:p14="http://schemas.microsoft.com/office/powerpoint/2010/main" val="4189385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8DC362-A41F-47DE-A381-45FF95D3DFD7}"/>
              </a:ext>
            </a:extLst>
          </p:cNvPr>
          <p:cNvSpPr>
            <a:spLocks noGrp="1"/>
          </p:cNvSpPr>
          <p:nvPr>
            <p:ph type="title"/>
          </p:nvPr>
        </p:nvSpPr>
        <p:spPr/>
        <p:txBody>
          <a:bodyPr/>
          <a:lstStyle/>
          <a:p>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Technological</a:t>
            </a:r>
            <a:r>
              <a:rPr kumimoji="0" lang="en-US" sz="4400" b="0" i="0" u="none" strike="noStrike" kern="1200" cap="none" spc="0" normalizeH="0" noProof="0" dirty="0">
                <a:ln>
                  <a:noFill/>
                </a:ln>
                <a:solidFill>
                  <a:schemeClr val="tx1"/>
                </a:solidFill>
                <a:effectLst/>
                <a:uLnTx/>
                <a:uFillTx/>
                <a:latin typeface="Times New Roman" pitchFamily="18" charset="0"/>
                <a:ea typeface="+mj-ea"/>
                <a:cs typeface="Times New Roman" pitchFamily="18" charset="0"/>
              </a:rPr>
              <a:t> Approach</a:t>
            </a:r>
            <a:endParaRPr lang="en-US" dirty="0"/>
          </a:p>
        </p:txBody>
      </p:sp>
      <p:sp>
        <p:nvSpPr>
          <p:cNvPr id="5" name="Content Placeholder 4">
            <a:extLst>
              <a:ext uri="{FF2B5EF4-FFF2-40B4-BE49-F238E27FC236}">
                <a16:creationId xmlns:a16="http://schemas.microsoft.com/office/drawing/2014/main" id="{446F69DC-51AD-4CC0-9C17-69BDE2743474}"/>
              </a:ext>
            </a:extLst>
          </p:cNvPr>
          <p:cNvSpPr>
            <a:spLocks noGrp="1"/>
          </p:cNvSpPr>
          <p:nvPr>
            <p:ph idx="1"/>
          </p:nvPr>
        </p:nvSpPr>
        <p:spPr/>
        <p:txBody>
          <a:bodyPr>
            <a:normAutofit/>
          </a:bodyPr>
          <a:lstStyle/>
          <a:p>
            <a:pPr algn="just"/>
            <a:r>
              <a:rPr lang="en-US" sz="1800" b="1" dirty="0"/>
              <a:t>Backend Layer</a:t>
            </a:r>
          </a:p>
          <a:p>
            <a:pPr lvl="1" algn="just"/>
            <a:r>
              <a:rPr lang="en-US" sz="1700" dirty="0"/>
              <a:t>Implemented using Flask</a:t>
            </a:r>
          </a:p>
          <a:p>
            <a:pPr lvl="1" algn="just"/>
            <a:r>
              <a:rPr lang="en-US" sz="1700" dirty="0"/>
              <a:t>Core endpoints:</a:t>
            </a:r>
          </a:p>
          <a:p>
            <a:pPr lvl="2" algn="just"/>
            <a:r>
              <a:rPr lang="en-US" sz="1700" dirty="0"/>
              <a:t>/api/predict → </a:t>
            </a:r>
            <a:r>
              <a:rPr lang="en-US" sz="1700" b="1" dirty="0"/>
              <a:t>ML + GPT </a:t>
            </a:r>
            <a:r>
              <a:rPr lang="en-US" sz="1700" dirty="0"/>
              <a:t>prediction pipeline</a:t>
            </a:r>
          </a:p>
          <a:p>
            <a:pPr lvl="2" algn="just"/>
            <a:r>
              <a:rPr lang="en-US" sz="1700" dirty="0"/>
              <a:t>/predict → frontend-friendly alias</a:t>
            </a:r>
          </a:p>
          <a:p>
            <a:pPr lvl="1" algn="just"/>
            <a:r>
              <a:rPr lang="en-US" sz="1700" dirty="0"/>
              <a:t>Loads model.pkl, performs inference, triggers GPT, returns final structured JSON</a:t>
            </a:r>
          </a:p>
          <a:p>
            <a:pPr marL="0" indent="0" algn="just">
              <a:buNone/>
            </a:pPr>
            <a:endParaRPr lang="en-US" sz="1800" b="1" dirty="0"/>
          </a:p>
          <a:p>
            <a:pPr algn="just"/>
            <a:r>
              <a:rPr lang="en-US" sz="1800" b="1" dirty="0"/>
              <a:t>Frontend Layer</a:t>
            </a:r>
          </a:p>
          <a:p>
            <a:pPr lvl="1" algn="just"/>
            <a:r>
              <a:rPr lang="en-US" sz="1700" dirty="0"/>
              <a:t>Basic UI built using HTML, CSS, JavaScript</a:t>
            </a:r>
          </a:p>
          <a:p>
            <a:pPr lvl="1" algn="just"/>
            <a:r>
              <a:rPr lang="en-US" sz="1700" b="1" dirty="0"/>
              <a:t>Inputs:</a:t>
            </a:r>
            <a:r>
              <a:rPr lang="en-US" sz="1700" dirty="0"/>
              <a:t> birth weight, maternal age, immunization, nutrition, socioeconomic, prenatal visits</a:t>
            </a:r>
          </a:p>
          <a:p>
            <a:pPr lvl="1" algn="just"/>
            <a:r>
              <a:rPr lang="en-US" sz="1700" b="1" dirty="0"/>
              <a:t>Outputs:</a:t>
            </a:r>
            <a:r>
              <a:rPr lang="en-US" sz="1700" dirty="0"/>
              <a:t> risk probability, risk category, survival plan</a:t>
            </a:r>
          </a:p>
          <a:p>
            <a:pPr lvl="1" algn="just"/>
            <a:r>
              <a:rPr lang="en-US" sz="1700" dirty="0"/>
              <a:t>Integrated animations, theme toggle, and results visualization</a:t>
            </a:r>
          </a:p>
        </p:txBody>
      </p:sp>
    </p:spTree>
    <p:extLst>
      <p:ext uri="{BB962C8B-B14F-4D97-AF65-F5344CB8AC3E}">
        <p14:creationId xmlns:p14="http://schemas.microsoft.com/office/powerpoint/2010/main" val="2112314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B7F55-5740-40C5-ADF4-D0F19EC6ED0C}"/>
              </a:ext>
            </a:extLst>
          </p:cNvPr>
          <p:cNvSpPr>
            <a:spLocks noGrp="1"/>
          </p:cNvSpPr>
          <p:nvPr>
            <p:ph type="title"/>
          </p:nvPr>
        </p:nvSpPr>
        <p:spPr/>
        <p:txBody>
          <a:bodyPr/>
          <a:lstStyle/>
          <a:p>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Technological</a:t>
            </a:r>
            <a:r>
              <a:rPr kumimoji="0" lang="en-US" sz="4400" b="0" i="0" u="none" strike="noStrike" kern="1200" cap="none" spc="0" normalizeH="0" noProof="0" dirty="0">
                <a:ln>
                  <a:noFill/>
                </a:ln>
                <a:solidFill>
                  <a:schemeClr val="tx1"/>
                </a:solidFill>
                <a:effectLst/>
                <a:uLnTx/>
                <a:uFillTx/>
                <a:latin typeface="Times New Roman" pitchFamily="18" charset="0"/>
                <a:ea typeface="+mj-ea"/>
                <a:cs typeface="Times New Roman" pitchFamily="18" charset="0"/>
              </a:rPr>
              <a:t> Approach</a:t>
            </a:r>
            <a:endParaRPr lang="en-US" dirty="0"/>
          </a:p>
        </p:txBody>
      </p:sp>
      <p:sp>
        <p:nvSpPr>
          <p:cNvPr id="3" name="Content Placeholder 2">
            <a:extLst>
              <a:ext uri="{FF2B5EF4-FFF2-40B4-BE49-F238E27FC236}">
                <a16:creationId xmlns:a16="http://schemas.microsoft.com/office/drawing/2014/main" id="{ABA25A9A-E52F-41C6-9AD8-D1430D335E8E}"/>
              </a:ext>
            </a:extLst>
          </p:cNvPr>
          <p:cNvSpPr>
            <a:spLocks noGrp="1"/>
          </p:cNvSpPr>
          <p:nvPr>
            <p:ph idx="1"/>
          </p:nvPr>
        </p:nvSpPr>
        <p:spPr/>
        <p:txBody>
          <a:bodyPr>
            <a:normAutofit/>
          </a:bodyPr>
          <a:lstStyle/>
          <a:p>
            <a:pPr algn="just"/>
            <a:r>
              <a:rPr lang="en-US" sz="1800" b="1" dirty="0"/>
              <a:t>Data Handling Layer</a:t>
            </a:r>
          </a:p>
          <a:p>
            <a:pPr lvl="1" algn="just"/>
            <a:r>
              <a:rPr lang="en-US" sz="1700" dirty="0"/>
              <a:t>Dataset stored as sample_input.csv</a:t>
            </a:r>
          </a:p>
          <a:p>
            <a:pPr lvl="1" algn="just"/>
            <a:r>
              <a:rPr lang="en-US" sz="1700" dirty="0"/>
              <a:t>No database implemented yet (history storage planned for next phase)</a:t>
            </a:r>
          </a:p>
          <a:p>
            <a:pPr lvl="1" algn="just"/>
            <a:r>
              <a:rPr lang="en-US" sz="1700" dirty="0"/>
              <a:t>Predictions handled in-memory during inference</a:t>
            </a:r>
          </a:p>
          <a:p>
            <a:pPr marL="457200" lvl="1" indent="0" algn="just">
              <a:buNone/>
            </a:pPr>
            <a:endParaRPr lang="en-US" sz="1600" dirty="0"/>
          </a:p>
          <a:p>
            <a:pPr algn="just"/>
            <a:r>
              <a:rPr lang="en-US" sz="1800" b="1" dirty="0"/>
              <a:t>Explainability Layer (Planned)</a:t>
            </a:r>
          </a:p>
          <a:p>
            <a:pPr lvl="1" algn="just"/>
            <a:r>
              <a:rPr lang="en-US" sz="1700" dirty="0"/>
              <a:t>SHAP explainability planned for feature-level insights</a:t>
            </a:r>
          </a:p>
          <a:p>
            <a:pPr lvl="1" algn="just"/>
            <a:r>
              <a:rPr lang="en-US" sz="1700" dirty="0"/>
              <a:t>Will help users understand major contributors to risk prediction</a:t>
            </a:r>
          </a:p>
        </p:txBody>
      </p:sp>
    </p:spTree>
    <p:extLst>
      <p:ext uri="{BB962C8B-B14F-4D97-AF65-F5344CB8AC3E}">
        <p14:creationId xmlns:p14="http://schemas.microsoft.com/office/powerpoint/2010/main" val="59211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059E9-9F2B-4544-B3D1-599B183DC42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System Architecture</a:t>
            </a:r>
          </a:p>
        </p:txBody>
      </p:sp>
      <p:pic>
        <p:nvPicPr>
          <p:cNvPr id="4" name="Picture 3">
            <a:extLst>
              <a:ext uri="{FF2B5EF4-FFF2-40B4-BE49-F238E27FC236}">
                <a16:creationId xmlns:a16="http://schemas.microsoft.com/office/drawing/2014/main" id="{AA9CAD01-5715-42B6-871E-11080439F95C}"/>
              </a:ext>
            </a:extLst>
          </p:cNvPr>
          <p:cNvPicPr>
            <a:picLocks noChangeAspect="1"/>
          </p:cNvPicPr>
          <p:nvPr/>
        </p:nvPicPr>
        <p:blipFill rotWithShape="1">
          <a:blip r:embed="rId2">
            <a:extLst>
              <a:ext uri="{28A0092B-C50C-407E-A947-70E740481C1C}">
                <a14:useLocalDpi xmlns:a14="http://schemas.microsoft.com/office/drawing/2010/main" val="0"/>
              </a:ext>
            </a:extLst>
          </a:blip>
          <a:srcRect b="9707"/>
          <a:stretch/>
        </p:blipFill>
        <p:spPr>
          <a:xfrm>
            <a:off x="228600" y="1219199"/>
            <a:ext cx="8686800" cy="5181601"/>
          </a:xfrm>
          <a:prstGeom prst="rect">
            <a:avLst/>
          </a:prstGeom>
        </p:spPr>
      </p:pic>
    </p:spTree>
    <p:extLst>
      <p:ext uri="{BB962C8B-B14F-4D97-AF65-F5344CB8AC3E}">
        <p14:creationId xmlns:p14="http://schemas.microsoft.com/office/powerpoint/2010/main" val="1171464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7EE2-AA18-46D3-B36E-3C5B213FF81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D83BBD2-57ED-4195-BC16-37D681CFC093}"/>
              </a:ext>
            </a:extLst>
          </p:cNvPr>
          <p:cNvSpPr>
            <a:spLocks noGrp="1"/>
          </p:cNvSpPr>
          <p:nvPr>
            <p:ph idx="1"/>
          </p:nvPr>
        </p:nvSpPr>
        <p:spPr/>
        <p:txBody>
          <a:bodyPr>
            <a:normAutofit/>
          </a:bodyPr>
          <a:lstStyle/>
          <a:p>
            <a:r>
              <a:rPr lang="en-US" sz="1800" dirty="0"/>
              <a:t>The system successfully integrates </a:t>
            </a:r>
            <a:r>
              <a:rPr lang="en-US" sz="1800" b="1" dirty="0"/>
              <a:t>Machine Learning (CatBoost)</a:t>
            </a:r>
            <a:r>
              <a:rPr lang="en-US" sz="1800" dirty="0"/>
              <a:t> and </a:t>
            </a:r>
            <a:r>
              <a:rPr lang="en-US" sz="1800" b="1" dirty="0"/>
              <a:t>GPT-based AI</a:t>
            </a:r>
            <a:r>
              <a:rPr lang="en-US" sz="1800" dirty="0"/>
              <a:t> to predict infant mortality risk and provide personalized survival plans.</a:t>
            </a:r>
          </a:p>
          <a:p>
            <a:endParaRPr lang="en-US" sz="1800" dirty="0"/>
          </a:p>
          <a:p>
            <a:r>
              <a:rPr lang="en-US" sz="1800" dirty="0"/>
              <a:t>A working </a:t>
            </a:r>
            <a:r>
              <a:rPr lang="en-US" sz="1800" b="1" dirty="0"/>
              <a:t>Flask Backend API</a:t>
            </a:r>
            <a:r>
              <a:rPr lang="en-US" sz="1800" dirty="0"/>
              <a:t> and </a:t>
            </a:r>
            <a:r>
              <a:rPr lang="en-US" sz="1800" b="1" dirty="0"/>
              <a:t>Web UI</a:t>
            </a:r>
            <a:r>
              <a:rPr lang="en-US" sz="1800" dirty="0"/>
              <a:t> enable real-time prediction and guidance delivery.</a:t>
            </a:r>
          </a:p>
          <a:p>
            <a:endParaRPr lang="en-US" sz="1800" dirty="0"/>
          </a:p>
          <a:p>
            <a:r>
              <a:rPr lang="en-US" sz="1800" dirty="0"/>
              <a:t>Early evaluations show </a:t>
            </a:r>
            <a:r>
              <a:rPr lang="en-US" sz="1800" b="1" dirty="0"/>
              <a:t>strong model accuracy (0.8746)</a:t>
            </a:r>
            <a:r>
              <a:rPr lang="en-US" sz="1800" dirty="0"/>
              <a:t> and meaningful, structured AI recommendations.</a:t>
            </a:r>
          </a:p>
          <a:p>
            <a:endParaRPr lang="en-US" sz="1800" dirty="0"/>
          </a:p>
          <a:p>
            <a:r>
              <a:rPr lang="en-US" sz="1800" dirty="0"/>
              <a:t>The combined ML–AI approach demonstrates significant potential to </a:t>
            </a:r>
            <a:r>
              <a:rPr lang="en-US" sz="1800" b="1" dirty="0"/>
              <a:t>support proactive pediatric care</a:t>
            </a:r>
            <a:r>
              <a:rPr lang="en-US" sz="1800" dirty="0"/>
              <a:t> and improve early intervention outcomes.</a:t>
            </a:r>
          </a:p>
          <a:p>
            <a:endParaRPr lang="en-US" sz="1800" dirty="0"/>
          </a:p>
          <a:p>
            <a:r>
              <a:rPr lang="en-US" sz="1800" dirty="0"/>
              <a:t>Planned enhancements include </a:t>
            </a:r>
            <a:r>
              <a:rPr lang="en-US" sz="1800" b="1" dirty="0"/>
              <a:t>persistent storage</a:t>
            </a:r>
            <a:r>
              <a:rPr lang="en-US" sz="1800" dirty="0"/>
              <a:t>, </a:t>
            </a:r>
            <a:r>
              <a:rPr lang="en-US" sz="1800" b="1" dirty="0"/>
              <a:t>SHAP explainability</a:t>
            </a:r>
            <a:r>
              <a:rPr lang="en-US" sz="1800" dirty="0"/>
              <a:t>, and </a:t>
            </a:r>
            <a:r>
              <a:rPr lang="en-US" sz="1800" b="1" dirty="0"/>
              <a:t>expanded clinical validation</a:t>
            </a:r>
            <a:r>
              <a:rPr lang="en-US" sz="1800" dirty="0"/>
              <a:t> to further strengthen system reliability and impact.</a:t>
            </a:r>
          </a:p>
        </p:txBody>
      </p:sp>
    </p:spTree>
    <p:extLst>
      <p:ext uri="{BB962C8B-B14F-4D97-AF65-F5344CB8AC3E}">
        <p14:creationId xmlns:p14="http://schemas.microsoft.com/office/powerpoint/2010/main" val="3178955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444</TotalTime>
  <Words>1205</Words>
  <Application>Microsoft Office PowerPoint</Application>
  <PresentationFormat>On-screen Show (4:3)</PresentationFormat>
  <Paragraphs>142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Office Theme</vt:lpstr>
      <vt:lpstr>SIDDHARTH INSTITUTE OF ENGINEERING &amp; TECHNOLOGY  (AUTONOMOUS) (Approved by AICTE, New Delhi &amp; Affiliated to JNTUA, Ananthapuramu) (Accredited by NBA for Civil, EEE, Mech., ECE &amp; CSE Accredited by NAAC with ‘A+’ Grade) Puttur -517583,Tirupathi District, A.P. (India) DEPARTMENT OF COMPUTER SCIENCE AND ENGINEERING CSE (ARTIFICIAL INTELLIGENCE AND DATA SCIENCE) Academic Year 2025-26    </vt:lpstr>
      <vt:lpstr>OBJECTIVE</vt:lpstr>
      <vt:lpstr>ABSTRACT (V-1)</vt:lpstr>
      <vt:lpstr>ABSTRACT (V-1)</vt:lpstr>
      <vt:lpstr>ABSTRACT (V-2)</vt:lpstr>
      <vt:lpstr>ABSTRACT (V-2)</vt:lpstr>
      <vt:lpstr>Modules</vt:lpstr>
      <vt:lpstr>Technological Approach</vt:lpstr>
      <vt:lpstr>Technological Approach</vt:lpstr>
      <vt:lpstr>Technological Approach</vt:lpstr>
      <vt:lpstr>System Architecture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Chandu</dc:creator>
  <cp:lastModifiedBy>Chirudeep k</cp:lastModifiedBy>
  <cp:revision>52</cp:revision>
  <dcterms:created xsi:type="dcterms:W3CDTF">2006-08-16T00:00:00Z</dcterms:created>
  <dcterms:modified xsi:type="dcterms:W3CDTF">2025-12-05T07:47:16Z</dcterms:modified>
</cp:coreProperties>
</file>