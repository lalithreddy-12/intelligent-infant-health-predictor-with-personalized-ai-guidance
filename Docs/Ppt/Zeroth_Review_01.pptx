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70" r:id="rId6"/>
    <p:sldId id="263" r:id="rId7"/>
    <p:sldId id="261" r:id="rId8"/>
    <p:sldId id="262" r:id="rId9"/>
    <p:sldId id="268"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4" d="100"/>
          <a:sy n="54" d="100"/>
        </p:scale>
        <p:origin x="341" y="3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0T04:48:35.221"/>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0T04:49:24.669"/>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0T04:49:34.117"/>
    </inkml:context>
    <inkml:brush xml:id="br0">
      <inkml:brushProperty name="width" value="0.05" units="cm"/>
      <inkml:brushProperty name="height" value="0.05" units="cm"/>
      <inkml:brushProperty name="ignorePressure" value="1"/>
    </inkml:brush>
  </inkml:definitions>
  <inkml:trace contextRef="#ctx0" brushRef="#br0">20 13,'-1'0,"1"0,-1-1,1 1,-1-1,0 1,1 0,-1-1,1 1,-1-1,1 1,-1-1,1 1,0-1,-1 0,1 1,0-1,-1 0,1 1,0-1,0 0,-1 1,1-2,-9 543,21 317,3-396,-10-160,31 940,2-765,5 96,39 534,-75-955,-11 157,-3-65,7-225,0-16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ustomXml" Target="../ink/ink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0199"/>
            <a:ext cx="8229600" cy="609601"/>
          </a:xfrm>
        </p:spPr>
        <p:txBody>
          <a:bodyPr>
            <a:normAutofit fontScale="90000"/>
          </a:bodyPr>
          <a:lstStyle/>
          <a:p>
            <a:pPr algn="ctr">
              <a:lnSpc>
                <a:spcPct val="115000"/>
              </a:lnSpc>
              <a:spcAft>
                <a:spcPts val="1000"/>
              </a:spcAft>
            </a:pPr>
            <a:r>
              <a:rPr lang="en-US" sz="1800" b="1" dirty="0">
                <a:effectLst/>
                <a:latin typeface="Times New Roman" panose="02020603050405020304" pitchFamily="18" charset="0"/>
                <a:ea typeface="Arial" panose="020B0604020202020204" pitchFamily="34" charset="0"/>
                <a:cs typeface="Times New Roman" panose="02020603050405020304" pitchFamily="18" charset="0"/>
              </a:rPr>
              <a:t>SIDDHARTH INSTITUTE OF ENGINEERING &amp; TECHNOLOGY</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 (AUTONOMOUS)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(Approved by AICTE, New Delhi &amp; Affiliated to JNTUA, </a:t>
            </a:r>
            <a:r>
              <a:rPr lang="en-US" sz="1800" dirty="0" err="1">
                <a:effectLst/>
                <a:latin typeface="Times New Roman" panose="02020603050405020304" pitchFamily="18" charset="0"/>
                <a:ea typeface="Arial Black" panose="020B0A04020102020204" pitchFamily="34" charset="0"/>
                <a:cs typeface="Times New Roman" panose="02020603050405020304" pitchFamily="18" charset="0"/>
              </a:rPr>
              <a:t>Ananthapuramu</a:t>
            </a: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NBA for Civil, EEE, Mech., ECE &amp; CSE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Accredited by NAAC with ‘A+’ Grade)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t>Puttur -517583,Tirupathi District, A.P. (India)</a:t>
            </a:r>
            <a:br>
              <a:rPr lang="en-US" sz="1800"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DEPARTMENT OF COMPUTER SCIENCE AND ENGINEERING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latin typeface="Times New Roman" panose="02020603050405020304" pitchFamily="18" charset="0"/>
                <a:ea typeface="Arial Black" panose="020B0A04020102020204" pitchFamily="34" charset="0"/>
                <a:cs typeface="Times New Roman" panose="02020603050405020304" pitchFamily="18" charset="0"/>
              </a:rPr>
              <a:t>CSE (ARTIFICIAL INTELLIGENCE AND MACHINE LEARNING</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t>Academic Year 2025-26</a:t>
            </a: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US" sz="1800" b="1" dirty="0">
                <a:effectLst/>
                <a:latin typeface="Times New Roman" panose="02020603050405020304" pitchFamily="18" charset="0"/>
                <a:ea typeface="Arial Black" panose="020B0A0402010202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Siddharth Institute of Engineering &amp; Technology - [SIETK], Puttur -  Admissions, Contact, Website, Facilities 2021-2022"/>
          <p:cNvPicPr>
            <a:picLocks noChangeAspect="1" noChangeArrowheads="1"/>
          </p:cNvPicPr>
          <p:nvPr/>
        </p:nvPicPr>
        <p:blipFill>
          <a:blip r:embed="rId2"/>
          <a:srcRect/>
          <a:stretch>
            <a:fillRect/>
          </a:stretch>
        </p:blipFill>
        <p:spPr bwMode="auto">
          <a:xfrm>
            <a:off x="213915" y="528235"/>
            <a:ext cx="990599" cy="866775"/>
          </a:xfrm>
          <a:prstGeom prst="rect">
            <a:avLst/>
          </a:prstGeom>
          <a:noFill/>
        </p:spPr>
      </p:pic>
      <p:sp>
        <p:nvSpPr>
          <p:cNvPr id="6" name="Rectangle 5"/>
          <p:cNvSpPr/>
          <p:nvPr/>
        </p:nvSpPr>
        <p:spPr>
          <a:xfrm>
            <a:off x="457200" y="3435052"/>
            <a:ext cx="2286000" cy="646331"/>
          </a:xfrm>
          <a:prstGeom prst="rect">
            <a:avLst/>
          </a:prstGeom>
        </p:spPr>
        <p:txBody>
          <a:bodyPr wrap="square">
            <a:spAutoFit/>
          </a:bodyPr>
          <a:lstStyle/>
          <a:p>
            <a:pPr lvl="0">
              <a:spcBef>
                <a:spcPct val="0"/>
              </a:spcBef>
              <a:defRPr/>
            </a:pPr>
            <a:r>
              <a:rPr lang="en-US" dirty="0">
                <a:latin typeface="Times New Roman" pitchFamily="18" charset="0"/>
                <a:cs typeface="Times New Roman" pitchFamily="18" charset="0"/>
              </a:rPr>
              <a:t> </a:t>
            </a:r>
          </a:p>
          <a:p>
            <a:pPr lvl="0">
              <a:spcBef>
                <a:spcPct val="0"/>
              </a:spcBef>
              <a:defRPr/>
            </a:pPr>
            <a:r>
              <a:rPr lang="en-US" dirty="0">
                <a:latin typeface="Times New Roman" pitchFamily="18" charset="0"/>
                <a:cs typeface="Times New Roman" pitchFamily="18" charset="0"/>
              </a:rPr>
              <a:t>Batch Details</a:t>
            </a:r>
          </a:p>
        </p:txBody>
      </p:sp>
      <p:sp>
        <p:nvSpPr>
          <p:cNvPr id="9" name="Rectangle 8"/>
          <p:cNvSpPr/>
          <p:nvPr/>
        </p:nvSpPr>
        <p:spPr>
          <a:xfrm>
            <a:off x="2743200" y="2527359"/>
            <a:ext cx="3275256" cy="461665"/>
          </a:xfrm>
          <a:prstGeom prst="rect">
            <a:avLst/>
          </a:prstGeom>
        </p:spPr>
        <p:txBody>
          <a:bodyPr wrap="none">
            <a:spAutoFit/>
          </a:bodyPr>
          <a:lstStyle/>
          <a:p>
            <a:r>
              <a:rPr lang="en-US" sz="2400" dirty="0">
                <a:latin typeface="Times New Roman" pitchFamily="18" charset="0"/>
                <a:cs typeface="Times New Roman" pitchFamily="18" charset="0"/>
              </a:rPr>
              <a:t>    Project Zeroth Review</a:t>
            </a:r>
            <a:endParaRPr lang="en-US" sz="2400" dirty="0"/>
          </a:p>
        </p:txBody>
      </p:sp>
      <p:sp>
        <p:nvSpPr>
          <p:cNvPr id="10" name="Rectangle 9"/>
          <p:cNvSpPr/>
          <p:nvPr/>
        </p:nvSpPr>
        <p:spPr>
          <a:xfrm>
            <a:off x="499373" y="2911832"/>
            <a:ext cx="8420548" cy="707886"/>
          </a:xfrm>
          <a:prstGeom prst="rect">
            <a:avLst/>
          </a:prstGeom>
        </p:spPr>
        <p:txBody>
          <a:bodyPr wrap="square">
            <a:spAutoFit/>
          </a:bodyPr>
          <a:lstStyle/>
          <a:p>
            <a:r>
              <a:rPr lang="en-US" sz="2000" b="1" dirty="0">
                <a:latin typeface="Times New Roman" pitchFamily="18" charset="0"/>
                <a:cs typeface="Times New Roman" pitchFamily="18" charset="0"/>
              </a:rPr>
              <a:t>Title of Project     </a:t>
            </a:r>
            <a:r>
              <a:rPr lang="en-US" sz="2000" dirty="0">
                <a:latin typeface="Times New Roman" pitchFamily="18" charset="0"/>
                <a:cs typeface="Times New Roman" pitchFamily="18" charset="0"/>
              </a:rPr>
              <a:t>Intelligent Infant </a:t>
            </a:r>
            <a:r>
              <a:rPr lang="en-US" sz="2000">
                <a:latin typeface="Times New Roman" pitchFamily="18" charset="0"/>
                <a:cs typeface="Times New Roman" pitchFamily="18" charset="0"/>
              </a:rPr>
              <a:t>Health Predictor </a:t>
            </a:r>
            <a:r>
              <a:rPr lang="en-US" sz="2000" dirty="0">
                <a:latin typeface="Times New Roman" pitchFamily="18" charset="0"/>
                <a:cs typeface="Times New Roman" pitchFamily="18" charset="0"/>
              </a:rPr>
              <a:t>With Personalized AI       	                   		  Guidance</a:t>
            </a:r>
            <a:endParaRPr lang="en-US" sz="2000" dirty="0"/>
          </a:p>
        </p:txBody>
      </p:sp>
      <p:graphicFrame>
        <p:nvGraphicFramePr>
          <p:cNvPr id="5" name="Table 10">
            <a:extLst>
              <a:ext uri="{FF2B5EF4-FFF2-40B4-BE49-F238E27FC236}">
                <a16:creationId xmlns:a16="http://schemas.microsoft.com/office/drawing/2014/main" id="{9726D40B-79FA-5C9C-B1C6-5162A7D08BEA}"/>
              </a:ext>
            </a:extLst>
          </p:cNvPr>
          <p:cNvGraphicFramePr>
            <a:graphicFrameLocks noGrp="1"/>
          </p:cNvGraphicFramePr>
          <p:nvPr>
            <p:extLst>
              <p:ext uri="{D42A27DB-BD31-4B8C-83A1-F6EECF244321}">
                <p14:modId xmlns:p14="http://schemas.microsoft.com/office/powerpoint/2010/main" val="2536804832"/>
              </p:ext>
            </p:extLst>
          </p:nvPr>
        </p:nvGraphicFramePr>
        <p:xfrm>
          <a:off x="556747" y="4006399"/>
          <a:ext cx="8305801" cy="2470604"/>
        </p:xfrm>
        <a:graphic>
          <a:graphicData uri="http://schemas.openxmlformats.org/drawingml/2006/table">
            <a:tbl>
              <a:tblPr firstRow="1" bandRow="1">
                <a:tableStyleId>{F5AB1C69-6EDB-4FF4-983F-18BD219EF322}</a:tableStyleId>
              </a:tblPr>
              <a:tblGrid>
                <a:gridCol w="1349693">
                  <a:extLst>
                    <a:ext uri="{9D8B030D-6E8A-4147-A177-3AD203B41FA5}">
                      <a16:colId xmlns:a16="http://schemas.microsoft.com/office/drawing/2014/main" val="3454361256"/>
                    </a:ext>
                  </a:extLst>
                </a:gridCol>
                <a:gridCol w="2284095">
                  <a:extLst>
                    <a:ext uri="{9D8B030D-6E8A-4147-A177-3AD203B41FA5}">
                      <a16:colId xmlns:a16="http://schemas.microsoft.com/office/drawing/2014/main" val="115167568"/>
                    </a:ext>
                  </a:extLst>
                </a:gridCol>
                <a:gridCol w="2081212">
                  <a:extLst>
                    <a:ext uri="{9D8B030D-6E8A-4147-A177-3AD203B41FA5}">
                      <a16:colId xmlns:a16="http://schemas.microsoft.com/office/drawing/2014/main" val="2541411041"/>
                    </a:ext>
                  </a:extLst>
                </a:gridCol>
                <a:gridCol w="2590801">
                  <a:extLst>
                    <a:ext uri="{9D8B030D-6E8A-4147-A177-3AD203B41FA5}">
                      <a16:colId xmlns:a16="http://schemas.microsoft.com/office/drawing/2014/main" val="247963892"/>
                    </a:ext>
                  </a:extLst>
                </a:gridCol>
              </a:tblGrid>
              <a:tr h="407104">
                <a:tc>
                  <a:txBody>
                    <a:bodyPr/>
                    <a:lstStyle/>
                    <a:p>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REG NO</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NAME</a:t>
                      </a:r>
                      <a:endParaRPr lang="en-IN" dirty="0">
                        <a:latin typeface="Times New Roman" panose="02020603050405020304" pitchFamily="18" charset="0"/>
                        <a:cs typeface="Times New Roman" panose="02020603050405020304" pitchFamily="18" charset="0"/>
                      </a:endParaRPr>
                    </a:p>
                  </a:txBody>
                  <a:tcPr>
                    <a:solidFill>
                      <a:srgbClr val="7030A0"/>
                    </a:solidFill>
                  </a:tcPr>
                </a:tc>
                <a:tc>
                  <a:txBody>
                    <a:bodyPr/>
                    <a:lstStyle/>
                    <a:p>
                      <a:r>
                        <a:rPr lang="en-US" dirty="0">
                          <a:latin typeface="Times New Roman" panose="02020603050405020304" pitchFamily="18" charset="0"/>
                          <a:cs typeface="Times New Roman" panose="02020603050405020304" pitchFamily="18" charset="0"/>
                        </a:rPr>
                        <a:t>INTERNAL GUIDE</a:t>
                      </a:r>
                      <a:endParaRPr lang="en-IN" dirty="0">
                        <a:latin typeface="Times New Roman" panose="02020603050405020304" pitchFamily="18" charset="0"/>
                        <a:cs typeface="Times New Roman" panose="02020603050405020304" pitchFamily="18" charset="0"/>
                      </a:endParaRPr>
                    </a:p>
                  </a:txBody>
                  <a:tcPr>
                    <a:solidFill>
                      <a:srgbClr val="7030A0"/>
                    </a:solidFill>
                  </a:tcPr>
                </a:tc>
                <a:extLst>
                  <a:ext uri="{0D108BD9-81ED-4DB2-BD59-A6C34878D82A}">
                    <a16:rowId xmlns:a16="http://schemas.microsoft.com/office/drawing/2014/main" val="1859435710"/>
                  </a:ext>
                </a:extLst>
              </a:tr>
              <a:tr h="460840">
                <a:tc>
                  <a:txBody>
                    <a:bodyPr/>
                    <a:lstStyle/>
                    <a:p>
                      <a:r>
                        <a:rPr lang="en-IN" dirty="0"/>
                        <a:t>1</a:t>
                      </a:r>
                    </a:p>
                  </a:txBody>
                  <a:tcPr/>
                </a:tc>
                <a:tc>
                  <a:txBody>
                    <a:bodyPr/>
                    <a:lstStyle/>
                    <a:p>
                      <a:r>
                        <a:rPr lang="en-IN" dirty="0"/>
                        <a:t>22F61A4788</a:t>
                      </a:r>
                    </a:p>
                  </a:txBody>
                  <a:tcPr/>
                </a:tc>
                <a:tc>
                  <a:txBody>
                    <a:bodyPr/>
                    <a:lstStyle/>
                    <a:p>
                      <a:r>
                        <a:rPr lang="en-IN" dirty="0"/>
                        <a:t>K LALITH</a:t>
                      </a:r>
                    </a:p>
                  </a:txBody>
                  <a:tcPr/>
                </a:tc>
                <a:tc rowSpan="3">
                  <a:txBody>
                    <a:bodyPr/>
                    <a:lstStyle/>
                    <a:p>
                      <a:endParaRPr lang="en-IN" dirty="0"/>
                    </a:p>
                    <a:p>
                      <a:endParaRPr lang="en-IN" dirty="0"/>
                    </a:p>
                    <a:p>
                      <a:r>
                        <a:rPr lang="en-IN" dirty="0"/>
                        <a:t>B.SRINIVASULU</a:t>
                      </a:r>
                    </a:p>
                  </a:txBody>
                  <a:tcPr/>
                </a:tc>
                <a:extLst>
                  <a:ext uri="{0D108BD9-81ED-4DB2-BD59-A6C34878D82A}">
                    <a16:rowId xmlns:a16="http://schemas.microsoft.com/office/drawing/2014/main" val="3672826067"/>
                  </a:ext>
                </a:extLst>
              </a:tr>
              <a:tr h="680980">
                <a:tc>
                  <a:txBody>
                    <a:bodyPr/>
                    <a:lstStyle/>
                    <a:p>
                      <a:r>
                        <a:rPr lang="en-IN" dirty="0"/>
                        <a:t>2</a:t>
                      </a:r>
                    </a:p>
                  </a:txBody>
                  <a:tcPr/>
                </a:tc>
                <a:tc>
                  <a:txBody>
                    <a:bodyPr/>
                    <a:lstStyle/>
                    <a:p>
                      <a:r>
                        <a:rPr lang="en-IN" dirty="0"/>
                        <a:t>22F61A4793</a:t>
                      </a:r>
                    </a:p>
                  </a:txBody>
                  <a:tcPr/>
                </a:tc>
                <a:tc>
                  <a:txBody>
                    <a:bodyPr/>
                    <a:lstStyle/>
                    <a:p>
                      <a:r>
                        <a:rPr lang="en-IN" dirty="0"/>
                        <a:t>P MAHITHA           PRANATHI</a:t>
                      </a:r>
                    </a:p>
                  </a:txBody>
                  <a:tcPr/>
                </a:tc>
                <a:tc vMerge="1">
                  <a:txBody>
                    <a:bodyPr/>
                    <a:lstStyle/>
                    <a:p>
                      <a:endParaRPr lang="en-IN" dirty="0"/>
                    </a:p>
                  </a:txBody>
                  <a:tcPr/>
                </a:tc>
                <a:extLst>
                  <a:ext uri="{0D108BD9-81ED-4DB2-BD59-A6C34878D82A}">
                    <a16:rowId xmlns:a16="http://schemas.microsoft.com/office/drawing/2014/main" val="873735473"/>
                  </a:ext>
                </a:extLst>
              </a:tr>
              <a:tr h="460840">
                <a:tc>
                  <a:txBody>
                    <a:bodyPr/>
                    <a:lstStyle/>
                    <a:p>
                      <a:r>
                        <a:rPr lang="en-IN" dirty="0"/>
                        <a:t>3</a:t>
                      </a:r>
                    </a:p>
                  </a:txBody>
                  <a:tcPr/>
                </a:tc>
                <a:tc>
                  <a:txBody>
                    <a:bodyPr/>
                    <a:lstStyle/>
                    <a:p>
                      <a:r>
                        <a:rPr lang="en-IN" dirty="0"/>
                        <a:t>22F61A4790</a:t>
                      </a:r>
                    </a:p>
                  </a:txBody>
                  <a:tcPr/>
                </a:tc>
                <a:tc>
                  <a:txBody>
                    <a:bodyPr/>
                    <a:lstStyle/>
                    <a:p>
                      <a:r>
                        <a:rPr lang="en-IN" dirty="0"/>
                        <a:t>P MADHU</a:t>
                      </a:r>
                    </a:p>
                  </a:txBody>
                  <a:tcPr/>
                </a:tc>
                <a:tc vMerge="1">
                  <a:txBody>
                    <a:bodyPr/>
                    <a:lstStyle/>
                    <a:p>
                      <a:endParaRPr lang="en-IN" dirty="0"/>
                    </a:p>
                  </a:txBody>
                  <a:tcPr/>
                </a:tc>
                <a:extLst>
                  <a:ext uri="{0D108BD9-81ED-4DB2-BD59-A6C34878D82A}">
                    <a16:rowId xmlns:a16="http://schemas.microsoft.com/office/drawing/2014/main" val="2383131700"/>
                  </a:ext>
                </a:extLst>
              </a:tr>
              <a:tr h="460840">
                <a:tc>
                  <a:txBody>
                    <a:bodyPr/>
                    <a:lstStyle/>
                    <a:p>
                      <a:r>
                        <a:rPr lang="en-IN" dirty="0"/>
                        <a:t>4</a:t>
                      </a:r>
                    </a:p>
                  </a:txBody>
                  <a:tcPr/>
                </a:tc>
                <a:tc>
                  <a:txBody>
                    <a:bodyPr/>
                    <a:lstStyle/>
                    <a:p>
                      <a:r>
                        <a:rPr lang="en-IN" dirty="0"/>
                        <a:t>22F61A47A0</a:t>
                      </a:r>
                    </a:p>
                  </a:txBody>
                  <a:tcPr/>
                </a:tc>
                <a:tc>
                  <a:txBody>
                    <a:bodyPr/>
                    <a:lstStyle/>
                    <a:p>
                      <a:r>
                        <a:rPr lang="en-IN" dirty="0"/>
                        <a:t>K MANOJKUMAR</a:t>
                      </a:r>
                    </a:p>
                  </a:txBody>
                  <a:tcPr/>
                </a:tc>
                <a:tc>
                  <a:txBody>
                    <a:bodyPr/>
                    <a:lstStyle/>
                    <a:p>
                      <a:endParaRPr lang="en-IN"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OBJECTIVE</a:t>
            </a:r>
          </a:p>
        </p:txBody>
      </p:sp>
      <p:sp>
        <p:nvSpPr>
          <p:cNvPr id="3" name="Rectangle 2"/>
          <p:cNvSpPr/>
          <p:nvPr/>
        </p:nvSpPr>
        <p:spPr>
          <a:xfrm>
            <a:off x="457200" y="1295400"/>
            <a:ext cx="8153400" cy="4524315"/>
          </a:xfrm>
          <a:prstGeom prst="rect">
            <a:avLst/>
          </a:prstGeom>
        </p:spPr>
        <p:txBody>
          <a:bodyPr wrap="square">
            <a:spAutoFit/>
          </a:bodyPr>
          <a:lstStyle/>
          <a:p>
            <a:pPr lvl="0" algn="just">
              <a:spcBef>
                <a:spcPct val="0"/>
              </a:spcBef>
              <a:defRPr/>
            </a:pPr>
            <a:r>
              <a:rPr lang="en-US" dirty="0">
                <a:latin typeface="Times New Roman" pitchFamily="18" charset="0"/>
                <a:cs typeface="Times New Roman" pitchFamily="18" charset="0"/>
              </a:rPr>
              <a:t> </a:t>
            </a: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t>1</a:t>
            </a:r>
            <a:r>
              <a:rPr lang="en-US" dirty="0"/>
              <a:t>. Build a supervised ML model to predict infant mortality risk (classify infants into       low-risk and high-risk).</a:t>
            </a:r>
            <a:r>
              <a:rPr lang="en-US" dirty="0">
                <a:latin typeface="Times New Roman" pitchFamily="18" charset="0"/>
                <a:cs typeface="Times New Roman" pitchFamily="18" charset="0"/>
              </a:rPr>
              <a:t> </a:t>
            </a: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latin typeface="Times New Roman" pitchFamily="18" charset="0"/>
                <a:cs typeface="Times New Roman" pitchFamily="18" charset="0"/>
              </a:rPr>
              <a:t>2</a:t>
            </a:r>
            <a:r>
              <a:rPr lang="en-US" dirty="0">
                <a:latin typeface="Times New Roman" pitchFamily="18" charset="0"/>
                <a:cs typeface="Times New Roman" pitchFamily="18" charset="0"/>
              </a:rPr>
              <a:t>. </a:t>
            </a:r>
            <a:r>
              <a:rPr lang="en-US" dirty="0"/>
              <a:t>Integrate an LLM-based AI engine to generate personalized, actionable survival plans for high-risk infants.</a:t>
            </a:r>
            <a:endParaRPr lang="en-US" dirty="0">
              <a:latin typeface="Times New Roman" pitchFamily="18" charset="0"/>
              <a:cs typeface="Times New Roman" pitchFamily="18" charset="0"/>
            </a:endParaRP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latin typeface="Times New Roman" pitchFamily="18" charset="0"/>
                <a:cs typeface="Times New Roman" pitchFamily="18" charset="0"/>
              </a:rPr>
              <a:t>3</a:t>
            </a:r>
            <a:r>
              <a:rPr lang="en-US" dirty="0">
                <a:latin typeface="Times New Roman" pitchFamily="18" charset="0"/>
                <a:cs typeface="Times New Roman" pitchFamily="18" charset="0"/>
              </a:rPr>
              <a:t>. </a:t>
            </a:r>
            <a:r>
              <a:rPr lang="en-US" dirty="0"/>
              <a:t>Provide a user-friendly web interface for healthcare professionals and caregivers to input data and receive recommendations in real time.</a:t>
            </a:r>
            <a:endParaRPr lang="en-US" dirty="0">
              <a:latin typeface="Times New Roman" pitchFamily="18" charset="0"/>
              <a:cs typeface="Times New Roman" pitchFamily="18" charset="0"/>
            </a:endParaRP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latin typeface="Times New Roman" pitchFamily="18" charset="0"/>
                <a:cs typeface="Times New Roman" pitchFamily="18" charset="0"/>
              </a:rPr>
              <a:t>4</a:t>
            </a:r>
            <a:r>
              <a:rPr lang="en-US" dirty="0">
                <a:latin typeface="Times New Roman" pitchFamily="18" charset="0"/>
                <a:cs typeface="Times New Roman" pitchFamily="18" charset="0"/>
              </a:rPr>
              <a:t>. </a:t>
            </a:r>
            <a:r>
              <a:rPr lang="en-US" dirty="0"/>
              <a:t>Improve proactive pediatric care through data-driven risk assessment and tailored intervention schedules.</a:t>
            </a:r>
            <a:endParaRPr lang="en-US" dirty="0">
              <a:latin typeface="Times New Roman" pitchFamily="18" charset="0"/>
              <a:cs typeface="Times New Roman" pitchFamily="18" charset="0"/>
            </a:endParaRPr>
          </a:p>
          <a:p>
            <a:pPr lvl="0" algn="just">
              <a:spcBef>
                <a:spcPct val="0"/>
              </a:spcBef>
              <a:defRPr/>
            </a:pPr>
            <a:endParaRPr lang="en-US" dirty="0">
              <a:latin typeface="Times New Roman" pitchFamily="18" charset="0"/>
              <a:cs typeface="Times New Roman" pitchFamily="18" charset="0"/>
            </a:endParaRPr>
          </a:p>
          <a:p>
            <a:pPr lvl="0" algn="just">
              <a:spcBef>
                <a:spcPct val="0"/>
              </a:spcBef>
              <a:defRPr/>
            </a:pPr>
            <a:r>
              <a:rPr lang="en-US" b="1" dirty="0">
                <a:latin typeface="Times New Roman" pitchFamily="18" charset="0"/>
                <a:cs typeface="Times New Roman" pitchFamily="18" charset="0"/>
              </a:rPr>
              <a:t>5</a:t>
            </a:r>
            <a:r>
              <a:rPr lang="en-US" dirty="0">
                <a:latin typeface="Times New Roman" pitchFamily="18" charset="0"/>
                <a:cs typeface="Times New Roman" pitchFamily="18" charset="0"/>
              </a:rPr>
              <a:t>. </a:t>
            </a:r>
            <a:r>
              <a:rPr lang="en-US" dirty="0"/>
              <a:t>Evaluate system accuracy and usefulness with experimental results and simulated/real datasets.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58213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ABSTRACT</a:t>
            </a:r>
          </a:p>
        </p:txBody>
      </p:sp>
      <p:sp>
        <p:nvSpPr>
          <p:cNvPr id="3" name="TextBox 2">
            <a:extLst>
              <a:ext uri="{FF2B5EF4-FFF2-40B4-BE49-F238E27FC236}">
                <a16:creationId xmlns:a16="http://schemas.microsoft.com/office/drawing/2014/main" id="{FE489CBC-8F7A-4DB4-817C-D605C07C4361}"/>
              </a:ext>
            </a:extLst>
          </p:cNvPr>
          <p:cNvSpPr txBox="1"/>
          <p:nvPr/>
        </p:nvSpPr>
        <p:spPr>
          <a:xfrm>
            <a:off x="152400" y="914400"/>
            <a:ext cx="8763000" cy="5355312"/>
          </a:xfrm>
          <a:prstGeom prst="rect">
            <a:avLst/>
          </a:prstGeom>
          <a:noFill/>
        </p:spPr>
        <p:txBody>
          <a:bodyPr wrap="square" rtlCol="0">
            <a:spAutoFit/>
          </a:bodyPr>
          <a:lstStyle/>
          <a:p>
            <a:pPr algn="just"/>
            <a:r>
              <a:rPr lang="en-US" dirty="0"/>
              <a:t>Infant mortality continues to be a pressing concern in pediatric healthcare, particularly for children under the age of five. Timely identification of high-risk infants is critical for implementing preventive interventions and improving survival outcomes. This paper presents a Machine Learning and AI-powered framework for predicting infant mortality risk and generating personalized survival plans. The system leverages key maternal and infant health indicators, including birth weight, maternal age, immunization status, nutrition score, socioeconomic factors, and prenatal care visits. A supervised machine learning model is trained on structured health datasets to classify infants into low- and high-risk categories, providing an accurate quantitative risk assessment.</a:t>
            </a:r>
          </a:p>
          <a:p>
            <a:pPr algn="just"/>
            <a:r>
              <a:rPr lang="en-US" dirty="0"/>
              <a:t>For high-risk cases, the framework integrates Hugging Face GPT-based AI models to generate detailed, actionable survival plans. These AI-generated recommendations include nutritional guidance, preventive care measures, follow-up schedules, early childhood development activities, physical activity guidelines. The system features a user-friendly web interface, enabling healthcare professionals and caregivers to input data and receive real-time, personalized recommendations. Experimental results demonstrate that the integrated ML-AI approach achieves high predictive accuracy while delivering structured, AI-generated survival plans that support proactive pediatric care. This framework exemplifies the potential of combining machine learning and AI to bridge data-driven risk assessment with practical, individualized child healthcare interventions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8040B42-6224-408C-BC2D-5FF0A7DFA493}"/>
                  </a:ext>
                </a:extLst>
              </p14:cNvPr>
              <p14:cNvContentPartPr/>
              <p14:nvPr/>
            </p14:nvContentPartPr>
            <p14:xfrm>
              <a:off x="11375894" y="5298162"/>
              <a:ext cx="360" cy="360"/>
            </p14:xfrm>
          </p:contentPart>
        </mc:Choice>
        <mc:Fallback xmlns="">
          <p:pic>
            <p:nvPicPr>
              <p:cNvPr id="4" name="Ink 3">
                <a:extLst>
                  <a:ext uri="{FF2B5EF4-FFF2-40B4-BE49-F238E27FC236}">
                    <a16:creationId xmlns:a16="http://schemas.microsoft.com/office/drawing/2014/main" id="{28040B42-6224-408C-BC2D-5FF0A7DFA493}"/>
                  </a:ext>
                </a:extLst>
              </p:cNvPr>
              <p:cNvPicPr/>
              <p:nvPr/>
            </p:nvPicPr>
            <p:blipFill>
              <a:blip r:embed="rId3"/>
              <a:stretch>
                <a:fillRect/>
              </a:stretch>
            </p:blipFill>
            <p:spPr>
              <a:xfrm>
                <a:off x="11367254" y="5289522"/>
                <a:ext cx="18000" cy="180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998034035"/>
              </p:ext>
            </p:extLst>
          </p:nvPr>
        </p:nvGraphicFramePr>
        <p:xfrm>
          <a:off x="660098" y="1076961"/>
          <a:ext cx="8102902" cy="6009639"/>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2941622">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2819400">
                  <a:extLst>
                    <a:ext uri="{9D8B030D-6E8A-4147-A177-3AD203B41FA5}">
                      <a16:colId xmlns:a16="http://schemas.microsoft.com/office/drawing/2014/main" val="20004"/>
                    </a:ext>
                  </a:extLst>
                </a:gridCol>
              </a:tblGrid>
              <a:tr h="866734">
                <a:tc>
                  <a:txBody>
                    <a:bodyPr/>
                    <a:lstStyle/>
                    <a:p>
                      <a:pPr algn="ctr"/>
                      <a:r>
                        <a:rPr lang="en-US" dirty="0">
                          <a:latin typeface="Times New Roman" pitchFamily="18" charset="0"/>
                          <a:cs typeface="Times New Roman" pitchFamily="18" charset="0"/>
                        </a:rPr>
                        <a:t>Sno</a:t>
                      </a:r>
                    </a:p>
                  </a:txBody>
                  <a:tcPr>
                    <a:solidFill>
                      <a:srgbClr val="7030A0"/>
                    </a:solidFill>
                  </a:tcPr>
                </a:tc>
                <a:tc>
                  <a:txBody>
                    <a:bodyPr/>
                    <a:lstStyle/>
                    <a:p>
                      <a:pPr algn="ctr"/>
                      <a:r>
                        <a:rPr lang="en-US" dirty="0">
                          <a:latin typeface="Times New Roman" pitchFamily="18" charset="0"/>
                          <a:cs typeface="Times New Roman" pitchFamily="18" charset="0"/>
                        </a:rPr>
                        <a:t>Title of the Paper</a:t>
                      </a:r>
                    </a:p>
                  </a:txBody>
                  <a:tcPr>
                    <a:solidFill>
                      <a:srgbClr val="7030A0"/>
                    </a:solidFill>
                  </a:tcPr>
                </a:tc>
                <a:tc>
                  <a:txBody>
                    <a:bodyPr/>
                    <a:lstStyle/>
                    <a:p>
                      <a:pPr algn="ctr"/>
                      <a:r>
                        <a:rPr lang="en-US" dirty="0">
                          <a:latin typeface="Times New Roman" pitchFamily="18" charset="0"/>
                          <a:cs typeface="Times New Roman" pitchFamily="18" charset="0"/>
                        </a:rPr>
                        <a:t>Year of publication</a:t>
                      </a:r>
                    </a:p>
                  </a:txBody>
                  <a:tcPr>
                    <a:solidFill>
                      <a:srgbClr val="7030A0"/>
                    </a:solidFill>
                  </a:tcPr>
                </a:tc>
                <a:tc>
                  <a:txBody>
                    <a:bodyPr/>
                    <a:lstStyle/>
                    <a:p>
                      <a:pPr algn="ctr"/>
                      <a:r>
                        <a:rPr lang="en-US" dirty="0">
                          <a:latin typeface="Times New Roman" pitchFamily="18" charset="0"/>
                          <a:cs typeface="Times New Roman" pitchFamily="18" charset="0"/>
                        </a:rPr>
                        <a:t>Author</a:t>
                      </a:r>
                    </a:p>
                  </a:txBody>
                  <a:tcPr>
                    <a:solidFill>
                      <a:srgbClr val="7030A0"/>
                    </a:solidFill>
                  </a:tcPr>
                </a:tc>
                <a:tc>
                  <a:txBody>
                    <a:bodyPr/>
                    <a:lstStyle/>
                    <a:p>
                      <a:pPr algn="ctr"/>
                      <a:r>
                        <a:rPr lang="en-US" dirty="0">
                          <a:latin typeface="Times New Roman" pitchFamily="18" charset="0"/>
                          <a:cs typeface="Times New Roman" pitchFamily="18" charset="0"/>
                        </a:rPr>
                        <a:t>Comments</a:t>
                      </a:r>
                    </a:p>
                  </a:txBody>
                  <a:tcPr>
                    <a:solidFill>
                      <a:srgbClr val="7030A0"/>
                    </a:solidFill>
                  </a:tcPr>
                </a:tc>
                <a:extLst>
                  <a:ext uri="{0D108BD9-81ED-4DB2-BD59-A6C34878D82A}">
                    <a16:rowId xmlns:a16="http://schemas.microsoft.com/office/drawing/2014/main" val="10000"/>
                  </a:ext>
                </a:extLst>
              </a:tr>
              <a:tr h="1146016">
                <a:tc>
                  <a:txBody>
                    <a:bodyPr/>
                    <a:lstStyle/>
                    <a:p>
                      <a:r>
                        <a:rPr lang="en-US" dirty="0"/>
                        <a:t>1</a:t>
                      </a:r>
                    </a:p>
                  </a:txBody>
                  <a:tcPr/>
                </a:tc>
                <a:tc>
                  <a:txBody>
                    <a:bodyPr/>
                    <a:lstStyle/>
                    <a:p>
                      <a:r>
                        <a:rPr lang="en-US" dirty="0"/>
                        <a:t>Machine Learning Approach for Infant Mortality Prediction</a:t>
                      </a:r>
                    </a:p>
                  </a:txBody>
                  <a:tcPr/>
                </a:tc>
                <a:tc>
                  <a:txBody>
                    <a:bodyPr/>
                    <a:lstStyle/>
                    <a:p>
                      <a:r>
                        <a:rPr lang="en-US" dirty="0"/>
                        <a:t>2020</a:t>
                      </a:r>
                    </a:p>
                  </a:txBody>
                  <a:tcPr/>
                </a:tc>
                <a:tc>
                  <a:txBody>
                    <a:bodyPr/>
                    <a:lstStyle/>
                    <a:p>
                      <a:r>
                        <a:rPr lang="en-US" dirty="0"/>
                        <a:t>A. Kumar </a:t>
                      </a:r>
                      <a:r>
                        <a:rPr lang="en-US" dirty="0" err="1"/>
                        <a:t>etal</a:t>
                      </a:r>
                      <a:r>
                        <a:rPr lang="en-US" dirty="0"/>
                        <a:t>.</a:t>
                      </a:r>
                    </a:p>
                  </a:txBody>
                  <a:tcPr/>
                </a:tc>
                <a:tc>
                  <a:txBody>
                    <a:bodyPr/>
                    <a:lstStyle/>
                    <a:p>
                      <a:r>
                        <a:rPr lang="en-US" dirty="0"/>
                        <a:t>Used logistic regression and random forest to identify risk factors in infants.</a:t>
                      </a:r>
                    </a:p>
                  </a:txBody>
                  <a:tcPr/>
                </a:tc>
                <a:extLst>
                  <a:ext uri="{0D108BD9-81ED-4DB2-BD59-A6C34878D82A}">
                    <a16:rowId xmlns:a16="http://schemas.microsoft.com/office/drawing/2014/main" val="10001"/>
                  </a:ext>
                </a:extLst>
              </a:tr>
              <a:tr h="1206023">
                <a:tc>
                  <a:txBody>
                    <a:bodyPr/>
                    <a:lstStyle/>
                    <a:p>
                      <a:r>
                        <a:rPr lang="en-US" dirty="0"/>
                        <a:t>2</a:t>
                      </a:r>
                    </a:p>
                  </a:txBody>
                  <a:tcPr/>
                </a:tc>
                <a:tc>
                  <a:txBody>
                    <a:bodyPr/>
                    <a:lstStyle/>
                    <a:p>
                      <a:r>
                        <a:rPr lang="en-US" dirty="0"/>
                        <a:t>AI-Based Prediction System for Early Infant Health Risks</a:t>
                      </a:r>
                    </a:p>
                  </a:txBody>
                  <a:tcPr/>
                </a:tc>
                <a:tc>
                  <a:txBody>
                    <a:bodyPr/>
                    <a:lstStyle/>
                    <a:p>
                      <a:r>
                        <a:rPr lang="en-US" dirty="0"/>
                        <a:t>2021</a:t>
                      </a:r>
                    </a:p>
                  </a:txBody>
                  <a:tcPr/>
                </a:tc>
                <a:tc>
                  <a:txBody>
                    <a:bodyPr/>
                    <a:lstStyle/>
                    <a:p>
                      <a:r>
                        <a:rPr lang="en-US" dirty="0"/>
                        <a:t>S. Reddy, P. Mehta</a:t>
                      </a:r>
                    </a:p>
                  </a:txBody>
                  <a:tcPr/>
                </a:tc>
                <a:tc>
                  <a:txBody>
                    <a:bodyPr/>
                    <a:lstStyle/>
                    <a:p>
                      <a:r>
                        <a:rPr lang="en-US" dirty="0"/>
                        <a:t>Proposed an AI framework using maternal and infant indicators for early risk detection.</a:t>
                      </a:r>
                    </a:p>
                  </a:txBody>
                  <a:tcPr/>
                </a:tc>
                <a:extLst>
                  <a:ext uri="{0D108BD9-81ED-4DB2-BD59-A6C34878D82A}">
                    <a16:rowId xmlns:a16="http://schemas.microsoft.com/office/drawing/2014/main" val="10002"/>
                  </a:ext>
                </a:extLst>
              </a:tr>
              <a:tr h="1386775">
                <a:tc>
                  <a:txBody>
                    <a:bodyPr/>
                    <a:lstStyle/>
                    <a:p>
                      <a:r>
                        <a:rPr lang="en-US" dirty="0"/>
                        <a:t>3</a:t>
                      </a:r>
                    </a:p>
                  </a:txBody>
                  <a:tcPr/>
                </a:tc>
                <a:tc>
                  <a:txBody>
                    <a:bodyPr/>
                    <a:lstStyle/>
                    <a:p>
                      <a:r>
                        <a:rPr lang="en-US" dirty="0"/>
                        <a:t>Predictive Modeling for Neonatal Survival using Health Indicators</a:t>
                      </a:r>
                    </a:p>
                  </a:txBody>
                  <a:tcPr/>
                </a:tc>
                <a:tc>
                  <a:txBody>
                    <a:bodyPr/>
                    <a:lstStyle/>
                    <a:p>
                      <a:r>
                        <a:rPr lang="en-US" dirty="0"/>
                        <a:t>2022</a:t>
                      </a:r>
                    </a:p>
                  </a:txBody>
                  <a:tcPr/>
                </a:tc>
                <a:tc>
                  <a:txBody>
                    <a:bodyPr/>
                    <a:lstStyle/>
                    <a:p>
                      <a:r>
                        <a:rPr lang="en-US" dirty="0"/>
                        <a:t>R. Sharma, L. </a:t>
                      </a:r>
                      <a:r>
                        <a:rPr lang="en-US" dirty="0" err="1"/>
                        <a:t>Guptha</a:t>
                      </a:r>
                      <a:endParaRPr lang="en-US" dirty="0"/>
                    </a:p>
                  </a:txBody>
                  <a:tcPr/>
                </a:tc>
                <a:tc>
                  <a:txBody>
                    <a:bodyPr/>
                    <a:lstStyle/>
                    <a:p>
                      <a:r>
                        <a:rPr lang="en-US" dirty="0"/>
                        <a:t>Demonstrated that maternal health, birth weight, and prenatal care significantly affect infant survival</a:t>
                      </a:r>
                    </a:p>
                  </a:txBody>
                  <a:tcPr/>
                </a:tc>
                <a:extLst>
                  <a:ext uri="{0D108BD9-81ED-4DB2-BD59-A6C34878D82A}">
                    <a16:rowId xmlns:a16="http://schemas.microsoft.com/office/drawing/2014/main" val="10003"/>
                  </a:ext>
                </a:extLst>
              </a:tr>
              <a:tr h="896274">
                <a:tc>
                  <a:txBody>
                    <a:bodyPr/>
                    <a:lstStyle/>
                    <a:p>
                      <a:r>
                        <a:rPr lang="en-US" dirty="0"/>
                        <a:t>4</a:t>
                      </a:r>
                    </a:p>
                  </a:txBody>
                  <a:tcPr/>
                </a:tc>
                <a:tc>
                  <a:txBody>
                    <a:bodyPr/>
                    <a:lstStyle/>
                    <a:p>
                      <a:r>
                        <a:rPr lang="en-US" dirty="0"/>
                        <a:t>Intelligent Health Monitoring System for Infants Using ML</a:t>
                      </a:r>
                    </a:p>
                  </a:txBody>
                  <a:tcPr/>
                </a:tc>
                <a:tc>
                  <a:txBody>
                    <a:bodyPr/>
                    <a:lstStyle/>
                    <a:p>
                      <a:r>
                        <a:rPr lang="en-US" dirty="0"/>
                        <a:t>2023</a:t>
                      </a:r>
                    </a:p>
                  </a:txBody>
                  <a:tcPr/>
                </a:tc>
                <a:tc>
                  <a:txBody>
                    <a:bodyPr/>
                    <a:lstStyle/>
                    <a:p>
                      <a:r>
                        <a:rPr lang="en-US" dirty="0" err="1"/>
                        <a:t>M.Singh</a:t>
                      </a:r>
                      <a:r>
                        <a:rPr lang="en-US" dirty="0"/>
                        <a:t>, K. Rao</a:t>
                      </a:r>
                    </a:p>
                  </a:txBody>
                  <a:tcPr/>
                </a:tc>
                <a:tc>
                  <a:txBody>
                    <a:bodyPr/>
                    <a:lstStyle/>
                    <a:p>
                      <a:r>
                        <a:rPr lang="en-US" dirty="0"/>
                        <a:t>Intelligent Health monitoring system for infant using ML.</a:t>
                      </a:r>
                    </a:p>
                  </a:txBody>
                  <a:tcPr/>
                </a:tc>
                <a:extLst>
                  <a:ext uri="{0D108BD9-81ED-4DB2-BD59-A6C34878D82A}">
                    <a16:rowId xmlns:a16="http://schemas.microsoft.com/office/drawing/2014/main" val="10004"/>
                  </a:ext>
                </a:extLst>
              </a:tr>
              <a:tr h="119009">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FE3D4B-A50D-7858-2B1A-9C6BECA4B31E}"/>
              </a:ext>
            </a:extLst>
          </p:cNvPr>
          <p:cNvSpPr txBox="1"/>
          <p:nvPr/>
        </p:nvSpPr>
        <p:spPr>
          <a:xfrm>
            <a:off x="762000" y="533400"/>
            <a:ext cx="7391400" cy="58477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Inferences from Literature Survey</a:t>
            </a:r>
          </a:p>
        </p:txBody>
      </p:sp>
      <p:sp>
        <p:nvSpPr>
          <p:cNvPr id="4" name="TextBox 3">
            <a:extLst>
              <a:ext uri="{FF2B5EF4-FFF2-40B4-BE49-F238E27FC236}">
                <a16:creationId xmlns:a16="http://schemas.microsoft.com/office/drawing/2014/main" id="{2ABC107F-9D2D-4655-935A-9D8EE14E71A5}"/>
              </a:ext>
            </a:extLst>
          </p:cNvPr>
          <p:cNvSpPr txBox="1"/>
          <p:nvPr/>
        </p:nvSpPr>
        <p:spPr>
          <a:xfrm>
            <a:off x="533400" y="1447800"/>
            <a:ext cx="8153400" cy="3970318"/>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t>Important predictors: </a:t>
            </a:r>
            <a:r>
              <a:rPr lang="en-US" dirty="0"/>
              <a:t>birth weight, gestational age, immunization status, maternal age, prenatal visits, nutrition score, socioeconomic indicators.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Ensemble tree-based classifiers (Random Forest / </a:t>
            </a:r>
            <a:r>
              <a:rPr lang="en-US" dirty="0" err="1"/>
              <a:t>XGBoost</a:t>
            </a:r>
            <a:r>
              <a:rPr lang="en-US" dirty="0"/>
              <a:t>) and calibrated probability outputs perform well for risk stratification.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err="1"/>
              <a:t>Explainability</a:t>
            </a:r>
            <a:r>
              <a:rPr lang="en-US" dirty="0"/>
              <a:t> (feature importance/SHAP) is necessary for clinical trust.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LLM-generated guidance needs validation and guardrails (medical disclaimers and clinician review).</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 web UI that captures structured inputs improves data quality and model reliability.</a:t>
            </a:r>
          </a:p>
          <a:p>
            <a:endParaRPr lang="en-US" dirty="0"/>
          </a:p>
        </p:txBody>
      </p:sp>
    </p:spTree>
    <p:extLst>
      <p:ext uri="{BB962C8B-B14F-4D97-AF65-F5344CB8AC3E}">
        <p14:creationId xmlns:p14="http://schemas.microsoft.com/office/powerpoint/2010/main" val="30571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Architectural Diagram</a:t>
            </a:r>
          </a:p>
        </p:txBody>
      </p:sp>
      <p:sp>
        <p:nvSpPr>
          <p:cNvPr id="3" name="Freeform 2">
            <a:extLst>
              <a:ext uri="{FF2B5EF4-FFF2-40B4-BE49-F238E27FC236}">
                <a16:creationId xmlns:a16="http://schemas.microsoft.com/office/drawing/2014/main" id="{D78CF94F-3A7E-4AC9-BC47-BC2D2DA557C2}"/>
              </a:ext>
            </a:extLst>
          </p:cNvPr>
          <p:cNvSpPr/>
          <p:nvPr/>
        </p:nvSpPr>
        <p:spPr>
          <a:xfrm>
            <a:off x="579120" y="1143000"/>
            <a:ext cx="8229600" cy="5257800"/>
          </a:xfrm>
          <a:custGeom>
            <a:avLst/>
            <a:gdLst/>
            <a:ahLst/>
            <a:cxnLst/>
            <a:rect l="l" t="t" r="r" b="b"/>
            <a:pathLst>
              <a:path w="8900170" h="5852160">
                <a:moveTo>
                  <a:pt x="0" y="0"/>
                </a:moveTo>
                <a:lnTo>
                  <a:pt x="8900170" y="0"/>
                </a:lnTo>
                <a:lnTo>
                  <a:pt x="8900170" y="5852160"/>
                </a:lnTo>
                <a:lnTo>
                  <a:pt x="0" y="5852160"/>
                </a:lnTo>
                <a:lnTo>
                  <a:pt x="0" y="0"/>
                </a:lnTo>
                <a:close/>
              </a:path>
            </a:pathLst>
          </a:custGeom>
          <a:blipFill>
            <a:blip r:embed="rId2"/>
            <a:stretch>
              <a:fillRect t="-683" r="-40" b="-683"/>
            </a:stretch>
          </a:blipFill>
        </p:spPr>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D913B079-DD4D-4363-B5D3-3B0D356AA5BF}"/>
                  </a:ext>
                </a:extLst>
              </p14:cNvPr>
              <p14:cNvContentPartPr/>
              <p14:nvPr/>
            </p14:nvContentPartPr>
            <p14:xfrm>
              <a:off x="1688009" y="4338701"/>
              <a:ext cx="360" cy="360"/>
            </p14:xfrm>
          </p:contentPart>
        </mc:Choice>
        <mc:Fallback xmlns="">
          <p:pic>
            <p:nvPicPr>
              <p:cNvPr id="13" name="Ink 12">
                <a:extLst>
                  <a:ext uri="{FF2B5EF4-FFF2-40B4-BE49-F238E27FC236}">
                    <a16:creationId xmlns:a16="http://schemas.microsoft.com/office/drawing/2014/main" id="{D913B079-DD4D-4363-B5D3-3B0D356AA5BF}"/>
                  </a:ext>
                </a:extLst>
              </p:cNvPr>
              <p:cNvPicPr/>
              <p:nvPr/>
            </p:nvPicPr>
            <p:blipFill>
              <a:blip r:embed="rId4"/>
              <a:stretch>
                <a:fillRect/>
              </a:stretch>
            </p:blipFill>
            <p:spPr>
              <a:xfrm>
                <a:off x="1679009" y="432970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D4552AB0-D93D-485F-B38D-E8BEA6F70D15}"/>
                  </a:ext>
                </a:extLst>
              </p14:cNvPr>
              <p14:cNvContentPartPr/>
              <p14:nvPr/>
            </p14:nvContentPartPr>
            <p14:xfrm>
              <a:off x="551129" y="2775581"/>
              <a:ext cx="86040" cy="2264400"/>
            </p14:xfrm>
          </p:contentPart>
        </mc:Choice>
        <mc:Fallback xmlns="">
          <p:pic>
            <p:nvPicPr>
              <p:cNvPr id="15" name="Ink 14">
                <a:extLst>
                  <a:ext uri="{FF2B5EF4-FFF2-40B4-BE49-F238E27FC236}">
                    <a16:creationId xmlns:a16="http://schemas.microsoft.com/office/drawing/2014/main" id="{D4552AB0-D93D-485F-B38D-E8BEA6F70D15}"/>
                  </a:ext>
                </a:extLst>
              </p:cNvPr>
              <p:cNvPicPr/>
              <p:nvPr/>
            </p:nvPicPr>
            <p:blipFill>
              <a:blip r:embed="rId6"/>
              <a:stretch>
                <a:fillRect/>
              </a:stretch>
            </p:blipFill>
            <p:spPr>
              <a:xfrm>
                <a:off x="542489" y="2766581"/>
                <a:ext cx="103680" cy="22820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Existing System</a:t>
            </a:r>
          </a:p>
        </p:txBody>
      </p:sp>
      <p:sp>
        <p:nvSpPr>
          <p:cNvPr id="3" name="Rectangle 2"/>
          <p:cNvSpPr/>
          <p:nvPr/>
        </p:nvSpPr>
        <p:spPr>
          <a:xfrm>
            <a:off x="685800" y="1752600"/>
            <a:ext cx="8077200" cy="646331"/>
          </a:xfrm>
          <a:prstGeom prst="rect">
            <a:avLst/>
          </a:prstGeom>
        </p:spPr>
        <p:txBody>
          <a:bodyPr wrap="square">
            <a:spAutoFit/>
          </a:bodyPr>
          <a:lstStyle/>
          <a:p>
            <a:pPr marL="285750" lvl="0" indent="-285750">
              <a:spcBef>
                <a:spcPct val="0"/>
              </a:spcBef>
              <a:buFont typeface="Wingdings" panose="05000000000000000000" pitchFamily="2" charset="2"/>
              <a:buChar char="Ø"/>
              <a:defRPr/>
            </a:pPr>
            <a:endParaRPr lang="en-US" dirty="0">
              <a:latin typeface="Times New Roman" pitchFamily="18" charset="0"/>
              <a:cs typeface="Times New Roman" pitchFamily="18" charset="0"/>
            </a:endParaRPr>
          </a:p>
          <a:p>
            <a:pPr marL="285750" lvl="0" indent="-285750">
              <a:spcBef>
                <a:spcPct val="0"/>
              </a:spcBef>
              <a:buFont typeface="Wingdings" panose="05000000000000000000" pitchFamily="2" charset="2"/>
              <a:buChar char="Ø"/>
              <a:defRPr/>
            </a:pPr>
            <a:endParaRPr lang="en-US"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21FC46EA-C5F5-4FC9-8827-E0C8927FD749}"/>
              </a:ext>
            </a:extLst>
          </p:cNvPr>
          <p:cNvSpPr txBox="1"/>
          <p:nvPr/>
        </p:nvSpPr>
        <p:spPr>
          <a:xfrm>
            <a:off x="457200" y="1219200"/>
            <a:ext cx="8229600" cy="4801314"/>
          </a:xfrm>
          <a:prstGeom prst="rect">
            <a:avLst/>
          </a:prstGeom>
          <a:noFill/>
        </p:spPr>
        <p:txBody>
          <a:bodyPr wrap="square" rtlCol="0">
            <a:spAutoFit/>
          </a:bodyPr>
          <a:lstStyle/>
          <a:p>
            <a:pPr algn="just"/>
            <a:endParaRPr lang="en-US" dirty="0"/>
          </a:p>
          <a:p>
            <a:pPr marL="285750" indent="-285750" algn="just">
              <a:buFont typeface="Arial" panose="020B0604020202020204" pitchFamily="34" charset="0"/>
              <a:buChar char="•"/>
            </a:pPr>
            <a:r>
              <a:rPr lang="en-US" dirty="0"/>
              <a:t>Manual clinical assessment and checklists are the primary method for identifying at-risk infants in most primary care settings.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Records are often kept on paper or in basic EMRs with inconsistent data fields and missing entries.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No automated, data-driven risk scoring is routinely available at point-of-care.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Clinical guidance is delivered verbally or via printed pamphlets — not personalized to the infant’s measured risk factors.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Limited auditability: predictions, care plans, and follow-up actions are not systematically logged for later review.</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Retraining and performance tracking of any predictive models (if present) is ad hoc or absent.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Proposed Methodology</a:t>
            </a:r>
          </a:p>
        </p:txBody>
      </p:sp>
      <p:sp>
        <p:nvSpPr>
          <p:cNvPr id="3" name="Rectangle 2"/>
          <p:cNvSpPr/>
          <p:nvPr/>
        </p:nvSpPr>
        <p:spPr>
          <a:xfrm>
            <a:off x="457200" y="1524000"/>
            <a:ext cx="8077200" cy="4801314"/>
          </a:xfrm>
          <a:prstGeom prst="rect">
            <a:avLst/>
          </a:prstGeom>
        </p:spPr>
        <p:txBody>
          <a:bodyPr wrap="square">
            <a:spAutoFit/>
          </a:bodyPr>
          <a:lstStyle/>
          <a:p>
            <a:pPr marL="342900" lvl="0" indent="-342900">
              <a:spcBef>
                <a:spcPct val="0"/>
              </a:spcBef>
              <a:buAutoNum type="arabicPeriod"/>
              <a:defRPr/>
            </a:pPr>
            <a:r>
              <a:rPr lang="en-US" b="1" dirty="0"/>
              <a:t>Data Collection &amp; </a:t>
            </a:r>
            <a:r>
              <a:rPr lang="en-US" b="1" dirty="0" err="1"/>
              <a:t>Preprosessing</a:t>
            </a:r>
            <a:r>
              <a:rPr lang="en-US" b="1" dirty="0"/>
              <a:t> - </a:t>
            </a:r>
            <a:r>
              <a:rPr lang="en-US" dirty="0"/>
              <a:t>Collect infant and maternal health data, clean missing values, encode features, and prepare inputs for the model.</a:t>
            </a:r>
          </a:p>
          <a:p>
            <a:pPr marL="342900" lvl="0" indent="-342900">
              <a:spcBef>
                <a:spcPct val="0"/>
              </a:spcBef>
              <a:buAutoNum type="arabicPeriod"/>
              <a:defRPr/>
            </a:pPr>
            <a:endParaRPr lang="en-US" dirty="0"/>
          </a:p>
          <a:p>
            <a:pPr marL="342900" lvl="0" indent="-342900">
              <a:spcBef>
                <a:spcPct val="0"/>
              </a:spcBef>
              <a:buAutoNum type="arabicPeriod"/>
              <a:defRPr/>
            </a:pPr>
            <a:r>
              <a:rPr lang="en-US" dirty="0"/>
              <a:t> </a:t>
            </a:r>
            <a:r>
              <a:rPr lang="en-US" b="1" dirty="0"/>
              <a:t>ML Model Development - </a:t>
            </a:r>
            <a:r>
              <a:rPr lang="en-US" dirty="0"/>
              <a:t>Train a supervised classifier (Random Forest/</a:t>
            </a:r>
            <a:r>
              <a:rPr lang="en-US" dirty="0" err="1"/>
              <a:t>XGBoost</a:t>
            </a:r>
            <a:r>
              <a:rPr lang="en-US" dirty="0"/>
              <a:t>) to predict infant mortality risk and generate probability scores.</a:t>
            </a:r>
          </a:p>
          <a:p>
            <a:pPr marL="342900" lvl="0" indent="-342900">
              <a:spcBef>
                <a:spcPct val="0"/>
              </a:spcBef>
              <a:buAutoNum type="arabicPeriod"/>
              <a:defRPr/>
            </a:pPr>
            <a:endParaRPr lang="en-US" dirty="0"/>
          </a:p>
          <a:p>
            <a:pPr marL="342900" lvl="0" indent="-342900">
              <a:spcBef>
                <a:spcPct val="0"/>
              </a:spcBef>
              <a:buAutoNum type="arabicPeriod"/>
              <a:defRPr/>
            </a:pPr>
            <a:r>
              <a:rPr lang="en-US" b="1" dirty="0" err="1"/>
              <a:t>Explainability</a:t>
            </a:r>
            <a:r>
              <a:rPr lang="en-US" b="1" dirty="0"/>
              <a:t> - </a:t>
            </a:r>
            <a:r>
              <a:rPr lang="en-US" dirty="0"/>
              <a:t>Use SHAP/LIME to show key factors influencing each prediction and ensure transparency.</a:t>
            </a:r>
          </a:p>
          <a:p>
            <a:pPr marL="342900" lvl="0" indent="-342900">
              <a:spcBef>
                <a:spcPct val="0"/>
              </a:spcBef>
              <a:buAutoNum type="arabicPeriod"/>
              <a:defRPr/>
            </a:pPr>
            <a:endParaRPr lang="en-US" dirty="0"/>
          </a:p>
          <a:p>
            <a:pPr marL="342900" lvl="0" indent="-342900">
              <a:spcBef>
                <a:spcPct val="0"/>
              </a:spcBef>
              <a:buAutoNum type="arabicPeriod"/>
              <a:defRPr/>
            </a:pPr>
            <a:r>
              <a:rPr lang="en-US" b="1" dirty="0"/>
              <a:t>AI Guidance Generation - </a:t>
            </a:r>
            <a:r>
              <a:rPr lang="en-US" dirty="0"/>
              <a:t>For high-risk cases, use a GPT-based model to create personalized survival plans with nutrition, preventive care, and follow-up actions.</a:t>
            </a:r>
          </a:p>
          <a:p>
            <a:pPr marL="342900" lvl="0" indent="-342900">
              <a:spcBef>
                <a:spcPct val="0"/>
              </a:spcBef>
              <a:buAutoNum type="arabicPeriod"/>
              <a:defRPr/>
            </a:pPr>
            <a:endParaRPr lang="en-US" dirty="0"/>
          </a:p>
          <a:p>
            <a:pPr marL="342900" lvl="0" indent="-342900">
              <a:spcBef>
                <a:spcPct val="0"/>
              </a:spcBef>
              <a:buAutoNum type="arabicPeriod"/>
              <a:defRPr/>
            </a:pPr>
            <a:r>
              <a:rPr lang="en-US" b="1" dirty="0"/>
              <a:t>Backend &amp; API - </a:t>
            </a:r>
            <a:r>
              <a:rPr lang="en-US" dirty="0"/>
              <a:t>Implement APIs for prediction, plan generation, and data history. Connect UI → Backend → Model → AI engine.</a:t>
            </a:r>
          </a:p>
          <a:p>
            <a:pPr marL="342900" lvl="0" indent="-342900">
              <a:spcBef>
                <a:spcPct val="0"/>
              </a:spcBef>
              <a:buAutoNum type="arabicPeriod"/>
              <a:defRPr/>
            </a:pPr>
            <a:endParaRPr lang="en-US" dirty="0"/>
          </a:p>
          <a:p>
            <a:pPr marL="342900" lvl="0" indent="-342900">
              <a:spcBef>
                <a:spcPct val="0"/>
              </a:spcBef>
              <a:buAutoNum type="arabicPeriod"/>
              <a:defRPr/>
            </a:pPr>
            <a:r>
              <a:rPr lang="en-US" b="1" dirty="0"/>
              <a:t>Frontend (Web UI) - </a:t>
            </a:r>
            <a:r>
              <a:rPr lang="en-US" dirty="0"/>
              <a:t>Simple interface for caregivers/clinicians to enter data and view risk results + AI-generated plan.</a:t>
            </a:r>
            <a:endParaRPr lang="en-US"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Requirement specification</a:t>
            </a:r>
          </a:p>
        </p:txBody>
      </p:sp>
      <p:sp>
        <p:nvSpPr>
          <p:cNvPr id="3" name="Rectangle 2"/>
          <p:cNvSpPr/>
          <p:nvPr/>
        </p:nvSpPr>
        <p:spPr>
          <a:xfrm>
            <a:off x="762000" y="1600200"/>
            <a:ext cx="3505200" cy="2862322"/>
          </a:xfrm>
          <a:prstGeom prst="rect">
            <a:avLst/>
          </a:prstGeom>
        </p:spPr>
        <p:txBody>
          <a:bodyPr wrap="square">
            <a:spAutoFit/>
          </a:bodyPr>
          <a:lstStyle/>
          <a:p>
            <a:pPr lvl="0" algn="ctr">
              <a:spcBef>
                <a:spcPct val="0"/>
              </a:spcBef>
              <a:defRPr/>
            </a:pPr>
            <a:endParaRPr lang="en-US" b="1" dirty="0">
              <a:latin typeface="Times New Roman" pitchFamily="18" charset="0"/>
              <a:cs typeface="Times New Roman" pitchFamily="18" charset="0"/>
            </a:endParaRPr>
          </a:p>
          <a:p>
            <a:pPr lvl="0" algn="ctr">
              <a:spcBef>
                <a:spcPct val="0"/>
              </a:spcBef>
              <a:defRPr/>
            </a:pPr>
            <a:r>
              <a:rPr lang="en-US" b="1" dirty="0">
                <a:latin typeface="Times New Roman" pitchFamily="18" charset="0"/>
                <a:cs typeface="Times New Roman" pitchFamily="18" charset="0"/>
              </a:rPr>
              <a:t>Software Requirements</a:t>
            </a:r>
          </a:p>
          <a:p>
            <a:pPr lvl="0" algn="ctr">
              <a:spcBef>
                <a:spcPct val="0"/>
              </a:spcBef>
              <a:defRPr/>
            </a:pPr>
            <a:endParaRPr lang="en-US" dirty="0">
              <a:latin typeface="Times New Roman" pitchFamily="18" charset="0"/>
              <a:cs typeface="Times New Roman" pitchFamily="18" charset="0"/>
            </a:endParaRPr>
          </a:p>
          <a:p>
            <a:pPr lvl="0" algn="ctr">
              <a:spcBef>
                <a:spcPct val="0"/>
              </a:spcBef>
              <a:defRPr/>
            </a:pPr>
            <a:r>
              <a:rPr lang="en-US" dirty="0">
                <a:latin typeface="Times New Roman" pitchFamily="18" charset="0"/>
                <a:cs typeface="Times New Roman" pitchFamily="18" charset="0"/>
              </a:rPr>
              <a:t>Python</a:t>
            </a:r>
          </a:p>
          <a:p>
            <a:pPr lvl="0" algn="ctr">
              <a:spcBef>
                <a:spcPct val="0"/>
              </a:spcBef>
              <a:defRPr/>
            </a:pPr>
            <a:r>
              <a:rPr lang="en-US" b="1" dirty="0">
                <a:latin typeface="Times New Roman" pitchFamily="18" charset="0"/>
                <a:cs typeface="Times New Roman" pitchFamily="18" charset="0"/>
              </a:rPr>
              <a:t>ML libraries: </a:t>
            </a:r>
            <a:r>
              <a:rPr lang="en-US" dirty="0">
                <a:latin typeface="Times New Roman" pitchFamily="18" charset="0"/>
                <a:cs typeface="Times New Roman" pitchFamily="18" charset="0"/>
              </a:rPr>
              <a:t>scikit-learn, pandas, </a:t>
            </a:r>
            <a:r>
              <a:rPr lang="en-US" dirty="0" err="1">
                <a:latin typeface="Times New Roman" pitchFamily="18" charset="0"/>
                <a:cs typeface="Times New Roman" pitchFamily="18" charset="0"/>
              </a:rPr>
              <a:t>numpy</a:t>
            </a:r>
            <a:endParaRPr lang="en-US" dirty="0">
              <a:latin typeface="Times New Roman" pitchFamily="18" charset="0"/>
              <a:cs typeface="Times New Roman" pitchFamily="18" charset="0"/>
            </a:endParaRPr>
          </a:p>
          <a:p>
            <a:pPr lvl="0" algn="ctr">
              <a:spcBef>
                <a:spcPct val="0"/>
              </a:spcBef>
              <a:defRPr/>
            </a:pPr>
            <a:r>
              <a:rPr lang="en-US" b="1" dirty="0">
                <a:latin typeface="Times New Roman" pitchFamily="18" charset="0"/>
                <a:cs typeface="Times New Roman" pitchFamily="18" charset="0"/>
              </a:rPr>
              <a:t>Backend: </a:t>
            </a:r>
            <a:r>
              <a:rPr lang="en-US" dirty="0">
                <a:latin typeface="Times New Roman" pitchFamily="18" charset="0"/>
                <a:cs typeface="Times New Roman" pitchFamily="18" charset="0"/>
              </a:rPr>
              <a:t>Flask or Fast API</a:t>
            </a:r>
          </a:p>
          <a:p>
            <a:pPr lvl="0" algn="ctr">
              <a:spcBef>
                <a:spcPct val="0"/>
              </a:spcBef>
              <a:defRPr/>
            </a:pPr>
            <a:r>
              <a:rPr lang="en-US" b="1" dirty="0">
                <a:latin typeface="Times New Roman" pitchFamily="18" charset="0"/>
                <a:cs typeface="Times New Roman" pitchFamily="18" charset="0"/>
              </a:rPr>
              <a:t>AI Integration: </a:t>
            </a:r>
            <a:r>
              <a:rPr lang="en-US" dirty="0">
                <a:latin typeface="Times New Roman" pitchFamily="18" charset="0"/>
                <a:cs typeface="Times New Roman" pitchFamily="18" charset="0"/>
              </a:rPr>
              <a:t>Hugging Face API</a:t>
            </a:r>
          </a:p>
          <a:p>
            <a:pPr lvl="0" algn="ctr">
              <a:spcBef>
                <a:spcPct val="0"/>
              </a:spcBef>
              <a:defRPr/>
            </a:pPr>
            <a:r>
              <a:rPr lang="en-US" b="1" dirty="0">
                <a:latin typeface="Times New Roman" pitchFamily="18" charset="0"/>
                <a:cs typeface="Times New Roman" pitchFamily="18" charset="0"/>
              </a:rPr>
              <a:t>Web UI: </a:t>
            </a:r>
            <a:r>
              <a:rPr lang="en-US" dirty="0">
                <a:latin typeface="Times New Roman" pitchFamily="18" charset="0"/>
                <a:cs typeface="Times New Roman" pitchFamily="18" charset="0"/>
              </a:rPr>
              <a:t>HTML/CSS/JS (or React) </a:t>
            </a:r>
          </a:p>
          <a:p>
            <a:pPr lvl="0" algn="ctr">
              <a:spcBef>
                <a:spcPct val="0"/>
              </a:spcBef>
              <a:defRPr/>
            </a:pPr>
            <a:endParaRPr lang="en-US" dirty="0">
              <a:latin typeface="Times New Roman" pitchFamily="18" charset="0"/>
              <a:cs typeface="Times New Roman" pitchFamily="18" charset="0"/>
            </a:endParaRPr>
          </a:p>
        </p:txBody>
      </p:sp>
      <p:sp>
        <p:nvSpPr>
          <p:cNvPr id="4" name="Rectangle 3"/>
          <p:cNvSpPr/>
          <p:nvPr/>
        </p:nvSpPr>
        <p:spPr>
          <a:xfrm>
            <a:off x="4572000" y="1600200"/>
            <a:ext cx="2971800" cy="2585323"/>
          </a:xfrm>
          <a:prstGeom prst="rect">
            <a:avLst/>
          </a:prstGeom>
        </p:spPr>
        <p:txBody>
          <a:bodyPr wrap="square">
            <a:spAutoFit/>
          </a:bodyPr>
          <a:lstStyle/>
          <a:p>
            <a:pPr lvl="0" algn="ctr">
              <a:spcBef>
                <a:spcPct val="0"/>
              </a:spcBef>
              <a:defRPr/>
            </a:pPr>
            <a:endParaRPr lang="en-US" b="1" dirty="0">
              <a:latin typeface="Times New Roman" pitchFamily="18" charset="0"/>
              <a:cs typeface="Times New Roman" pitchFamily="18" charset="0"/>
            </a:endParaRPr>
          </a:p>
          <a:p>
            <a:pPr lvl="0" algn="ctr">
              <a:spcBef>
                <a:spcPct val="0"/>
              </a:spcBef>
              <a:defRPr/>
            </a:pPr>
            <a:r>
              <a:rPr lang="en-US" b="1" dirty="0">
                <a:latin typeface="Times New Roman" pitchFamily="18" charset="0"/>
                <a:cs typeface="Times New Roman" pitchFamily="18" charset="0"/>
              </a:rPr>
              <a:t>Hardware Requirements</a:t>
            </a:r>
          </a:p>
          <a:p>
            <a:pPr lvl="0" algn="ctr">
              <a:spcBef>
                <a:spcPct val="0"/>
              </a:spcBef>
              <a:defRPr/>
            </a:pPr>
            <a:endParaRPr lang="en-US" b="1" dirty="0">
              <a:latin typeface="Times New Roman" pitchFamily="18" charset="0"/>
              <a:cs typeface="Times New Roman" pitchFamily="18" charset="0"/>
            </a:endParaRPr>
          </a:p>
          <a:p>
            <a:pPr lvl="0" algn="ctr">
              <a:spcBef>
                <a:spcPct val="0"/>
              </a:spcBef>
              <a:defRPr/>
            </a:pPr>
            <a:r>
              <a:rPr lang="en-US" dirty="0">
                <a:latin typeface="Times New Roman" pitchFamily="18" charset="0"/>
                <a:cs typeface="Times New Roman" pitchFamily="18" charset="0"/>
              </a:rPr>
              <a:t>Standard laptop/PC</a:t>
            </a:r>
          </a:p>
          <a:p>
            <a:pPr lvl="0" algn="ctr">
              <a:spcBef>
                <a:spcPct val="0"/>
              </a:spcBef>
              <a:defRPr/>
            </a:pPr>
            <a:r>
              <a:rPr lang="en-US" b="1" dirty="0">
                <a:latin typeface="Times New Roman" pitchFamily="18" charset="0"/>
                <a:cs typeface="Times New Roman" pitchFamily="18" charset="0"/>
              </a:rPr>
              <a:t>Minimum: </a:t>
            </a:r>
            <a:r>
              <a:rPr lang="en-US" dirty="0">
                <a:latin typeface="Times New Roman" pitchFamily="18" charset="0"/>
                <a:cs typeface="Times New Roman" pitchFamily="18" charset="0"/>
              </a:rPr>
              <a:t>4-8 GB RAM</a:t>
            </a:r>
          </a:p>
          <a:p>
            <a:pPr lvl="0" algn="ctr">
              <a:spcBef>
                <a:spcPct val="0"/>
              </a:spcBef>
              <a:defRPr/>
            </a:pPr>
            <a:r>
              <a:rPr lang="en-US" b="1" dirty="0">
                <a:latin typeface="Times New Roman" pitchFamily="18" charset="0"/>
                <a:cs typeface="Times New Roman" pitchFamily="18" charset="0"/>
              </a:rPr>
              <a:t>Storage: </a:t>
            </a:r>
            <a:r>
              <a:rPr lang="en-US" dirty="0">
                <a:latin typeface="Times New Roman" pitchFamily="18" charset="0"/>
                <a:cs typeface="Times New Roman" pitchFamily="18" charset="0"/>
              </a:rPr>
              <a:t>5-10 GB</a:t>
            </a:r>
          </a:p>
          <a:p>
            <a:pPr lvl="0" algn="ctr">
              <a:spcBef>
                <a:spcPct val="0"/>
              </a:spcBef>
              <a:defRPr/>
            </a:pPr>
            <a:r>
              <a:rPr lang="en-US" dirty="0">
                <a:latin typeface="Times New Roman" pitchFamily="18" charset="0"/>
                <a:cs typeface="Times New Roman" pitchFamily="18" charset="0"/>
              </a:rPr>
              <a:t>Internet connection for API access</a:t>
            </a:r>
          </a:p>
          <a:p>
            <a:pPr lvl="0" algn="ctr">
              <a:spcBef>
                <a:spcPct val="0"/>
              </a:spcBef>
              <a:defRPr/>
            </a:pPr>
            <a:endParaRPr lang="en-US"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Conclusion</a:t>
            </a:r>
          </a:p>
        </p:txBody>
      </p:sp>
      <p:sp>
        <p:nvSpPr>
          <p:cNvPr id="3" name="TextBox 2">
            <a:extLst>
              <a:ext uri="{FF2B5EF4-FFF2-40B4-BE49-F238E27FC236}">
                <a16:creationId xmlns:a16="http://schemas.microsoft.com/office/drawing/2014/main" id="{3F8E324A-3C61-41AB-97E2-E3D4358F7B6F}"/>
              </a:ext>
            </a:extLst>
          </p:cNvPr>
          <p:cNvSpPr txBox="1"/>
          <p:nvPr/>
        </p:nvSpPr>
        <p:spPr>
          <a:xfrm>
            <a:off x="609600" y="1219200"/>
            <a:ext cx="7848600" cy="3693319"/>
          </a:xfrm>
          <a:prstGeom prst="rect">
            <a:avLst/>
          </a:prstGeom>
          <a:noFill/>
        </p:spPr>
        <p:txBody>
          <a:bodyPr wrap="square" rtlCol="0">
            <a:spAutoFit/>
          </a:bodyPr>
          <a:lstStyle/>
          <a:p>
            <a:pPr algn="just"/>
            <a:endParaRPr lang="en-US" dirty="0"/>
          </a:p>
          <a:p>
            <a:pPr algn="just"/>
            <a:endParaRPr lang="en-US" dirty="0"/>
          </a:p>
          <a:p>
            <a:pPr algn="just"/>
            <a:r>
              <a:rPr lang="en-US" dirty="0"/>
              <a:t>The proposed system integrates machine learning and AI-driven guidance to address the critical challenge of early infant mortality prediction. By analyzing key maternal and infant health indicators, the ML model provides reliable risk classification, while the GPT-based AI component generates personalized survival plans tailored to each high-risk case. </a:t>
            </a:r>
          </a:p>
          <a:p>
            <a:pPr algn="just"/>
            <a:endParaRPr lang="en-US" dirty="0"/>
          </a:p>
          <a:p>
            <a:pPr algn="just"/>
            <a:r>
              <a:rPr lang="en-US" dirty="0"/>
              <a:t>This combination of predictive analytics and actionable recommendations supports timely clinical decisions, improves caregiver awareness, and encourages preventive healthcare practices. With its user-friendly interface, </a:t>
            </a:r>
            <a:r>
              <a:rPr lang="en-US" dirty="0" err="1"/>
              <a:t>explainability</a:t>
            </a:r>
            <a:r>
              <a:rPr lang="en-US" dirty="0"/>
              <a:t> features, and scalable architecture, the system demonstrates strong potential to enhance pediatric healthcare delivery and reduce preventable infant mortality.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414</TotalTime>
  <Words>1095</Words>
  <Application>Microsoft Office PowerPoint</Application>
  <PresentationFormat>On-screen Show (4:3)</PresentationFormat>
  <Paragraphs>123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Times New Roman</vt:lpstr>
      <vt:lpstr>Wingdings</vt:lpstr>
      <vt:lpstr>Office Theme</vt:lpstr>
      <vt:lpstr>SIDDHARTH INSTITUTE OF ENGINEERING &amp; TECHNOLOGY  (AUTONOMOUS) (Approved by AICTE, New Delhi &amp; Affiliated to JNTUA, Ananthapuramu) (Accredited by NBA for Civil, EEE, Mech., ECE &amp; CSE Accredited by NAAC with ‘A+’ Grade) Puttur -517583,Tirupathi District, A.P. (India) DEPARTMENT OF COMPUTER SCIENCE AND ENGINEERING CSE (ARTIFICIAL INTELLIGENCE AND MACHINE LEARNING Academic Year 2025-26    </vt:lpstr>
      <vt:lpstr>OBJECTIVE</vt:lpstr>
      <vt:lpstr>PowerPoint Presentation</vt:lpstr>
      <vt:lpstr>PowerPoint Presentation</vt:lpstr>
      <vt:lpstr>PowerPoint Presentation</vt:lpstr>
      <vt:lpstr>PowerPoint Presentation</vt:lpstr>
      <vt:lpstr>PowerPoint Presentation</vt:lpstr>
      <vt:lpstr>PowerPoint Presentation</vt:lpstr>
      <vt:lpstr>Requirement specification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Chirudeep k</cp:lastModifiedBy>
  <cp:revision>44</cp:revision>
  <dcterms:created xsi:type="dcterms:W3CDTF">2006-08-16T00:00:00Z</dcterms:created>
  <dcterms:modified xsi:type="dcterms:W3CDTF">2026-01-06T04:55:49Z</dcterms:modified>
</cp:coreProperties>
</file>